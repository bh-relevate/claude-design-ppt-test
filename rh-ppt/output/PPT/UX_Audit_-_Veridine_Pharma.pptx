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0B14">
              <a:alpha val="96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857250" y="2562076"/>
            <a:ext cx="8535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AUDIT · MAY 2026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857250" y="2990701"/>
            <a:ext cx="8535353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900" spc="-6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Veridine</a:t>
            </a:r>
            <a:endParaRPr lang="en-US" sz="6900" dirty="0"/>
          </a:p>
        </p:txBody>
      </p:sp>
      <p:sp>
        <p:nvSpPr>
          <p:cNvPr id="8" name="Text 4"/>
          <p:cNvSpPr/>
          <p:nvPr/>
        </p:nvSpPr>
        <p:spPr>
          <a:xfrm>
            <a:off x="857250" y="3901976"/>
            <a:ext cx="8535353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900" spc="-6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</a:t>
            </a:r>
            <a:endParaRPr lang="en-US" sz="6900" dirty="0"/>
          </a:p>
        </p:txBody>
      </p:sp>
      <p:sp>
        <p:nvSpPr>
          <p:cNvPr id="9" name="Text 5"/>
          <p:cNvSpPr/>
          <p:nvPr/>
        </p:nvSpPr>
        <p:spPr>
          <a:xfrm>
            <a:off x="857250" y="4813250"/>
            <a:ext cx="8535353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900" spc="-69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Accessibility</a:t>
            </a:r>
            <a:endParaRPr lang="en-US" sz="6900" dirty="0"/>
          </a:p>
        </p:txBody>
      </p:sp>
      <p:sp>
        <p:nvSpPr>
          <p:cNvPr id="10" name="Text 6"/>
          <p:cNvSpPr/>
          <p:nvPr/>
        </p:nvSpPr>
        <p:spPr>
          <a:xfrm>
            <a:off x="857250" y="5953125"/>
            <a:ext cx="627888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WCAG 2.1 Level AA review of veridinepharma.com — patient and HCP experiences.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2399705" y="7820025"/>
            <a:ext cx="457200" cy="1905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12" name="Text 8"/>
          <p:cNvSpPr/>
          <p:nvPr/>
        </p:nvSpPr>
        <p:spPr>
          <a:xfrm>
            <a:off x="4627959" y="7696200"/>
            <a:ext cx="46513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VERIDINE DIGITAL · MAY 2026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6759833" y="9801225"/>
            <a:ext cx="107096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857250" y="2380059"/>
            <a:ext cx="79819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57250" y="2637234"/>
            <a:ext cx="1123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905000" y="2618184"/>
            <a:ext cx="71422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methodology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905000" y="3008709"/>
            <a:ext cx="71422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Pages, devices, assistive tech, and the standards we tested against.</a:t>
            </a:r>
            <a:endParaRPr lang="en-US" sz="1275" dirty="0"/>
          </a:p>
        </p:txBody>
      </p:sp>
      <p:sp>
        <p:nvSpPr>
          <p:cNvPr id="11" name="Shape 8"/>
          <p:cNvSpPr/>
          <p:nvPr/>
        </p:nvSpPr>
        <p:spPr>
          <a:xfrm>
            <a:off x="9448800" y="2380059"/>
            <a:ext cx="79819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448800" y="2637234"/>
            <a:ext cx="1123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496550" y="2618184"/>
            <a:ext cx="71422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WCAG matters for pharma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0496550" y="3008709"/>
            <a:ext cx="71422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exposure, ADA litigation trends, and patient reach.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857250" y="3694509"/>
            <a:ext cx="79819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57250" y="3951684"/>
            <a:ext cx="1123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905000" y="3932634"/>
            <a:ext cx="71422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905000" y="4323159"/>
            <a:ext cx="71422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conformance score and severity breakdown.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9448800" y="3694509"/>
            <a:ext cx="79819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448800" y="3951684"/>
            <a:ext cx="1123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0496550" y="3932634"/>
            <a:ext cx="71422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by WCAG principle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0496550" y="4323159"/>
            <a:ext cx="71422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Perceivable · Operable · Understandable · Robust.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857250" y="5008959"/>
            <a:ext cx="79819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57250" y="5266134"/>
            <a:ext cx="1123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905000" y="5247084"/>
            <a:ext cx="71422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&amp; evidence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1905000" y="5637609"/>
            <a:ext cx="71422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issues most likely to block a user — and how we'd fix them.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448800" y="5008959"/>
            <a:ext cx="79819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9448800" y="5266134"/>
            <a:ext cx="1123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8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10496550" y="5247084"/>
            <a:ext cx="71422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roadmap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0496550" y="5637609"/>
            <a:ext cx="71422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/ Next / Later remediation plan with owners.</a:t>
            </a:r>
            <a:endParaRPr lang="en-US" sz="1275" dirty="0"/>
          </a:p>
        </p:txBody>
      </p:sp>
      <p:sp>
        <p:nvSpPr>
          <p:cNvPr id="31" name="Text 28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7280434" y="9801225"/>
            <a:ext cx="5503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methodology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57250" y="2380059"/>
            <a:ext cx="83414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TESTED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7250" y="2808684"/>
            <a:ext cx="342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295400" y="2808684"/>
            <a:ext cx="7890142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templates across the patient site, HCP portal, and unbranded condition site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57250" y="3262908"/>
            <a:ext cx="3429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295400" y="3262908"/>
            <a:ext cx="7890142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ISI, Important Safety Information modal, prescribing information PDF landing, savings card flow, and the HCP login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57250" y="3999905"/>
            <a:ext cx="342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295400" y="3999905"/>
            <a:ext cx="7890142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(1440 px) and mobile (375 px) breakpoints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57250" y="4454128"/>
            <a:ext cx="342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295400" y="4454128"/>
            <a:ext cx="7890142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Chrome, Safari, Firefox, and Edge — current stable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717732" y="2380059"/>
            <a:ext cx="79444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TESTED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717732" y="2808684"/>
            <a:ext cx="3429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0155882" y="2808684"/>
            <a:ext cx="7493114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Level AA as the conformance target; Level AAA noted where relevant for pharma audiences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717732" y="3545681"/>
            <a:ext cx="342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0155882" y="3545681"/>
            <a:ext cx="749311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scans via axe DevTools and Lighthouse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9717732" y="3999905"/>
            <a:ext cx="342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0155882" y="3999905"/>
            <a:ext cx="749311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keyboard-only navigation of every flow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9717732" y="4454128"/>
            <a:ext cx="342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0155882" y="4454128"/>
            <a:ext cx="749311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pass with VoiceOver (macOS / iOS) and NVDA (Windows)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9717732" y="4908352"/>
            <a:ext cx="342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0155882" y="4908352"/>
            <a:ext cx="749311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Color-contrast verification with APCA and traditional WCAG ratios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7277755" y="9801225"/>
            <a:ext cx="5530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pharma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57250" y="2151459"/>
            <a:ext cx="804481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 web experiences sit at the intersection of regulated content, sensitive audiences, and ADA exposure. Accessibility is not optional.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57250" y="3970734"/>
            <a:ext cx="5372100" cy="222810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57250" y="3970734"/>
            <a:ext cx="19050" cy="2228106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4275534"/>
            <a:ext cx="49642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AFFECTED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1143000" y="4504134"/>
            <a:ext cx="49642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1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4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1143000" y="5189934"/>
            <a:ext cx="4964240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adults live with a disability that can affect how they read, hear, or interact with a web page — many of them on therapy.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6457950" y="3970734"/>
            <a:ext cx="5372100" cy="222810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457950" y="3970734"/>
            <a:ext cx="19050" cy="2228106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15" name="Text 12"/>
          <p:cNvSpPr/>
          <p:nvPr/>
        </p:nvSpPr>
        <p:spPr>
          <a:xfrm>
            <a:off x="6743700" y="4275534"/>
            <a:ext cx="49642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WEB LAWSUITS FILED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743700" y="4504134"/>
            <a:ext cx="49642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1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+8,800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6743700" y="5189934"/>
            <a:ext cx="4964240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III digital accessibility cases filed in U.S. federal court in 2024 — pharma and healthcare among the top five targeted sectors.</a:t>
            </a:r>
            <a:endParaRPr lang="en-US" sz="1275" dirty="0"/>
          </a:p>
        </p:txBody>
      </p:sp>
      <p:sp>
        <p:nvSpPr>
          <p:cNvPr id="18" name="Shape 15"/>
          <p:cNvSpPr/>
          <p:nvPr/>
        </p:nvSpPr>
        <p:spPr>
          <a:xfrm>
            <a:off x="12058650" y="3970734"/>
            <a:ext cx="5372100" cy="222810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2058650" y="3970734"/>
            <a:ext cx="19050" cy="2228106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20" name="Text 17"/>
          <p:cNvSpPr/>
          <p:nvPr/>
        </p:nvSpPr>
        <p:spPr>
          <a:xfrm>
            <a:off x="12344400" y="4275534"/>
            <a:ext cx="49642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1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COMPLIANCE RISK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2344400" y="4504134"/>
            <a:ext cx="496424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spc="-1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12344400" y="5189934"/>
            <a:ext cx="4964240" cy="742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Important Safety Information cannot be perceived by all users equally, prominence and balance obligations may be considered unmet.</a:t>
            </a:r>
            <a:endParaRPr lang="en-US" sz="1275" dirty="0"/>
          </a:p>
        </p:txBody>
      </p:sp>
      <p:sp>
        <p:nvSpPr>
          <p:cNvPr id="23" name="Text 20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7275820" y="9801225"/>
            <a:ext cx="554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conformance, with critical blockers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57250" y="2903637"/>
            <a:ext cx="62637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WCAG 2.1 AA SCORE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7250" y="3256062"/>
            <a:ext cx="6263704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0" spc="-750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pPr algn="l" indent="0" marL="0">
              <a:lnSpc>
                <a:spcPct val="95000"/>
              </a:lnSpc>
              <a:buNone/>
            </a:pPr>
            <a:r>
              <a:rPr lang="en-US" sz="6000" spc="-750" kern="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5000" dirty="0"/>
          </a:p>
        </p:txBody>
      </p:sp>
      <p:sp>
        <p:nvSpPr>
          <p:cNvPr id="9" name="Text 6"/>
          <p:cNvSpPr/>
          <p:nvPr/>
        </p:nvSpPr>
        <p:spPr>
          <a:xfrm>
            <a:off x="857250" y="5294412"/>
            <a:ext cx="6263704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distinct issues identified across 12 page templates. Six are user-blocking and must be resolved before the next campaign launch.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7700516" y="2456259"/>
            <a:ext cx="4769793" cy="2085975"/>
          </a:xfrm>
          <a:prstGeom prst="roundRect">
            <a:avLst>
              <a:gd name="adj" fmla="val 182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76741" y="2770584"/>
            <a:ext cx="43438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76741" y="3065859"/>
            <a:ext cx="434386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276" kern="0" dirty="0">
                <a:solidFill>
                  <a:srgbClr val="9F22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900" dirty="0"/>
          </a:p>
        </p:txBody>
      </p:sp>
      <p:sp>
        <p:nvSpPr>
          <p:cNvPr id="13" name="Text 10"/>
          <p:cNvSpPr/>
          <p:nvPr/>
        </p:nvSpPr>
        <p:spPr>
          <a:xfrm>
            <a:off x="7976741" y="4056459"/>
            <a:ext cx="43438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task completion for assistive-tech users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2660809" y="2456259"/>
            <a:ext cx="4769941" cy="2085975"/>
          </a:xfrm>
          <a:prstGeom prst="roundRect">
            <a:avLst>
              <a:gd name="adj" fmla="val 182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937034" y="2770584"/>
            <a:ext cx="43440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2937034" y="3065859"/>
            <a:ext cx="434401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27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900" dirty="0"/>
          </a:p>
        </p:txBody>
      </p:sp>
      <p:sp>
        <p:nvSpPr>
          <p:cNvPr id="17" name="Text 14"/>
          <p:cNvSpPr/>
          <p:nvPr/>
        </p:nvSpPr>
        <p:spPr>
          <a:xfrm>
            <a:off x="12937034" y="4056459"/>
            <a:ext cx="43440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degradation; workarounds required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00516" y="4732734"/>
            <a:ext cx="4769793" cy="2085975"/>
          </a:xfrm>
          <a:prstGeom prst="roundRect">
            <a:avLst>
              <a:gd name="adj" fmla="val 182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76741" y="5047059"/>
            <a:ext cx="43438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976741" y="5342334"/>
            <a:ext cx="4343863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276" kern="0" dirty="0">
                <a:solidFill>
                  <a:srgbClr val="D4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900" dirty="0"/>
          </a:p>
        </p:txBody>
      </p:sp>
      <p:sp>
        <p:nvSpPr>
          <p:cNvPr id="21" name="Text 18"/>
          <p:cNvSpPr/>
          <p:nvPr/>
        </p:nvSpPr>
        <p:spPr>
          <a:xfrm>
            <a:off x="7976741" y="6332934"/>
            <a:ext cx="43438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Noticeable friction, inconsistent compliance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2660809" y="4732734"/>
            <a:ext cx="4769941" cy="2085975"/>
          </a:xfrm>
          <a:prstGeom prst="roundRect">
            <a:avLst>
              <a:gd name="adj" fmla="val 182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937034" y="5047059"/>
            <a:ext cx="434401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2937034" y="5342334"/>
            <a:ext cx="434401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spc="-2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900" dirty="0"/>
          </a:p>
        </p:txBody>
      </p:sp>
      <p:sp>
        <p:nvSpPr>
          <p:cNvPr id="25" name="Text 22"/>
          <p:cNvSpPr/>
          <p:nvPr/>
        </p:nvSpPr>
        <p:spPr>
          <a:xfrm>
            <a:off x="12937034" y="6332934"/>
            <a:ext cx="43440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items and best-practice deviations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278796" y="9801225"/>
            <a:ext cx="5520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OVERVIEW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across all four WCAG principles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857250" y="2380059"/>
            <a:ext cx="3971925" cy="4286250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1575" y="2732484"/>
            <a:ext cx="34435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01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71575" y="3065859"/>
            <a:ext cx="34435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288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1171575" y="4151709"/>
            <a:ext cx="34435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Perceivable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171575" y="4637484"/>
            <a:ext cx="3443573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and UI components must be presented in ways users can perceive — including text alternatives and adequate contrast.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1171575" y="5999559"/>
            <a:ext cx="334327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171575" y="6180534"/>
            <a:ext cx="6820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</a:t>
            </a:r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891754" y="6180534"/>
            <a:ext cx="6258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3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critical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5057775" y="2380059"/>
            <a:ext cx="3971925" cy="4286250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2100" y="2732484"/>
            <a:ext cx="34435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02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72100" y="3065859"/>
            <a:ext cx="34435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288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7200" dirty="0"/>
          </a:p>
        </p:txBody>
      </p:sp>
      <p:sp>
        <p:nvSpPr>
          <p:cNvPr id="18" name="Text 15"/>
          <p:cNvSpPr/>
          <p:nvPr/>
        </p:nvSpPr>
        <p:spPr>
          <a:xfrm>
            <a:off x="5372100" y="4151709"/>
            <a:ext cx="34435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Operable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5372100" y="4637484"/>
            <a:ext cx="3443573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functionality must be available from a keyboard, with enough time and clear navigation, and without triggering seizures.</a:t>
            </a:r>
            <a:endParaRPr lang="en-US" sz="1275" dirty="0"/>
          </a:p>
        </p:txBody>
      </p:sp>
      <p:sp>
        <p:nvSpPr>
          <p:cNvPr id="20" name="Shape 17"/>
          <p:cNvSpPr/>
          <p:nvPr/>
        </p:nvSpPr>
        <p:spPr>
          <a:xfrm>
            <a:off x="5372100" y="5999559"/>
            <a:ext cx="334327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372100" y="6180534"/>
            <a:ext cx="6755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</a:t>
            </a:r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6085731" y="6180534"/>
            <a:ext cx="6229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3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critical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9258300" y="2380059"/>
            <a:ext cx="3971925" cy="4286250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72625" y="2732484"/>
            <a:ext cx="34435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03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572625" y="3065859"/>
            <a:ext cx="34435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288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200" dirty="0"/>
          </a:p>
        </p:txBody>
      </p:sp>
      <p:sp>
        <p:nvSpPr>
          <p:cNvPr id="26" name="Text 23"/>
          <p:cNvSpPr/>
          <p:nvPr/>
        </p:nvSpPr>
        <p:spPr>
          <a:xfrm>
            <a:off x="9572625" y="4151709"/>
            <a:ext cx="34435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Understandable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572625" y="4637484"/>
            <a:ext cx="3443573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and the operation of the interface must be readable and predictable — especially around forms, errors, and clinical content.</a:t>
            </a:r>
            <a:endParaRPr lang="en-US" sz="1275" dirty="0"/>
          </a:p>
        </p:txBody>
      </p:sp>
      <p:sp>
        <p:nvSpPr>
          <p:cNvPr id="28" name="Shape 25"/>
          <p:cNvSpPr/>
          <p:nvPr/>
        </p:nvSpPr>
        <p:spPr>
          <a:xfrm>
            <a:off x="9572625" y="5999559"/>
            <a:ext cx="334327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9572625" y="6180534"/>
            <a:ext cx="6807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10291465" y="6180534"/>
            <a:ext cx="6015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3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critical</a:t>
            </a:r>
            <a:endParaRPr lang="en-US" sz="1125" dirty="0"/>
          </a:p>
        </p:txBody>
      </p:sp>
      <p:sp>
        <p:nvSpPr>
          <p:cNvPr id="31" name="Shape 28"/>
          <p:cNvSpPr/>
          <p:nvPr/>
        </p:nvSpPr>
        <p:spPr>
          <a:xfrm>
            <a:off x="13458825" y="2380059"/>
            <a:ext cx="3971925" cy="4286250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773150" y="2732484"/>
            <a:ext cx="34435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04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3773150" y="3065859"/>
            <a:ext cx="34435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spc="-288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200" dirty="0"/>
          </a:p>
        </p:txBody>
      </p:sp>
      <p:sp>
        <p:nvSpPr>
          <p:cNvPr id="34" name="Text 31"/>
          <p:cNvSpPr/>
          <p:nvPr/>
        </p:nvSpPr>
        <p:spPr>
          <a:xfrm>
            <a:off x="13773150" y="4151709"/>
            <a:ext cx="34435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13773150" y="4637484"/>
            <a:ext cx="3443573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must work with current and future user agents, including assistive technologies — clean semantics and valid ARIA.</a:t>
            </a:r>
            <a:endParaRPr lang="en-US" sz="1275" dirty="0"/>
          </a:p>
        </p:txBody>
      </p:sp>
      <p:sp>
        <p:nvSpPr>
          <p:cNvPr id="36" name="Shape 33"/>
          <p:cNvSpPr/>
          <p:nvPr/>
        </p:nvSpPr>
        <p:spPr>
          <a:xfrm>
            <a:off x="13773150" y="5999559"/>
            <a:ext cx="3343275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13773150" y="6180534"/>
            <a:ext cx="60171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</a:t>
            </a:r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14412962" y="6180534"/>
            <a:ext cx="6271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E3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critical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7276564" y="9801225"/>
            <a:ext cx="5542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25000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PERCEIVABLE · 1.4.3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509665" y="885825"/>
            <a:ext cx="17500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critical · 6 serious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contrast fails across the ISI and CTA system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857250" y="2546747"/>
            <a:ext cx="596637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09650" y="2265759"/>
            <a:ext cx="5840562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6823621" y="2546747"/>
            <a:ext cx="430931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976021" y="2265759"/>
            <a:ext cx="413379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11132939" y="2546747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1285339" y="2265759"/>
            <a:ext cx="176019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13121729" y="2546747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3274129" y="2265759"/>
            <a:ext cx="176019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15110520" y="2546747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5262920" y="2265759"/>
            <a:ext cx="209163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857250" y="3184922"/>
            <a:ext cx="596637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09650" y="2727722"/>
            <a:ext cx="58405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CTA — </a:t>
            </a:r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.btn-primary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6823621" y="3184922"/>
            <a:ext cx="430931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090321" y="2799159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CDDE00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37971" y="2789634"/>
            <a:ext cx="10004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on white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11132939" y="3184922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1285339" y="2727722"/>
            <a:ext cx="1760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1.63 : 1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13121729" y="3184922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3274129" y="2727722"/>
            <a:ext cx="1760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: 1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15110520" y="3184922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5262920" y="2746772"/>
            <a:ext cx="928688" cy="257175"/>
          </a:xfrm>
          <a:prstGeom prst="roundRect">
            <a:avLst>
              <a:gd name="adj" fmla="val 50000"/>
            </a:avLst>
          </a:prstGeom>
          <a:solidFill>
            <a:srgbClr val="9F2241">
              <a:alpha val="18000"/>
            </a:srgbClr>
          </a:solidFill>
          <a:ln w="9525">
            <a:solidFill>
              <a:srgbClr val="9F2241">
                <a:alpha val="5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386745" y="2803922"/>
            <a:ext cx="757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3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7250" y="3823097"/>
            <a:ext cx="596637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009650" y="3365897"/>
            <a:ext cx="58405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body — fixed footer drawer</a:t>
            </a:r>
            <a:endParaRPr lang="en-US" sz="1425" dirty="0"/>
          </a:p>
        </p:txBody>
      </p:sp>
      <p:sp>
        <p:nvSpPr>
          <p:cNvPr id="32" name="Shape 29"/>
          <p:cNvSpPr/>
          <p:nvPr/>
        </p:nvSpPr>
        <p:spPr>
          <a:xfrm>
            <a:off x="6823621" y="3823097"/>
            <a:ext cx="430931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090321" y="3437334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5B6B7A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37971" y="3427809"/>
            <a:ext cx="9678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 on navy</a:t>
            </a:r>
            <a:endParaRPr lang="en-US" sz="1125" dirty="0"/>
          </a:p>
        </p:txBody>
      </p:sp>
      <p:sp>
        <p:nvSpPr>
          <p:cNvPr id="35" name="Shape 32"/>
          <p:cNvSpPr/>
          <p:nvPr/>
        </p:nvSpPr>
        <p:spPr>
          <a:xfrm>
            <a:off x="11132939" y="3823097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11285339" y="3365897"/>
            <a:ext cx="1760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2.91 : 1</a:t>
            </a:r>
            <a:endParaRPr lang="en-US" sz="1275" dirty="0"/>
          </a:p>
        </p:txBody>
      </p:sp>
      <p:sp>
        <p:nvSpPr>
          <p:cNvPr id="37" name="Shape 34"/>
          <p:cNvSpPr/>
          <p:nvPr/>
        </p:nvSpPr>
        <p:spPr>
          <a:xfrm>
            <a:off x="13121729" y="3823097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13274129" y="3365897"/>
            <a:ext cx="1760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: 1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5110520" y="3823097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5262920" y="3384947"/>
            <a:ext cx="928688" cy="257175"/>
          </a:xfrm>
          <a:prstGeom prst="roundRect">
            <a:avLst>
              <a:gd name="adj" fmla="val 50000"/>
            </a:avLst>
          </a:prstGeom>
          <a:solidFill>
            <a:srgbClr val="9F2241">
              <a:alpha val="18000"/>
            </a:srgbClr>
          </a:solidFill>
          <a:ln w="9525">
            <a:solidFill>
              <a:srgbClr val="9F2241">
                <a:alpha val="5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5386745" y="3442097"/>
            <a:ext cx="757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3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57250" y="4461272"/>
            <a:ext cx="596637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1009650" y="4004072"/>
            <a:ext cx="58405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helper text — savings enrollment</a:t>
            </a:r>
            <a:endParaRPr lang="en-US" sz="1425" dirty="0"/>
          </a:p>
        </p:txBody>
      </p:sp>
      <p:sp>
        <p:nvSpPr>
          <p:cNvPr id="44" name="Shape 41"/>
          <p:cNvSpPr/>
          <p:nvPr/>
        </p:nvSpPr>
        <p:spPr>
          <a:xfrm>
            <a:off x="6823621" y="4461272"/>
            <a:ext cx="430931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7090321" y="4075509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C9AA3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37971" y="4065984"/>
            <a:ext cx="992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 on white</a:t>
            </a:r>
            <a:endParaRPr lang="en-US" sz="1125" dirty="0"/>
          </a:p>
        </p:txBody>
      </p:sp>
      <p:sp>
        <p:nvSpPr>
          <p:cNvPr id="47" name="Shape 44"/>
          <p:cNvSpPr/>
          <p:nvPr/>
        </p:nvSpPr>
        <p:spPr>
          <a:xfrm>
            <a:off x="11132939" y="4461272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11285339" y="4004072"/>
            <a:ext cx="1760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3.18 : 1</a:t>
            </a:r>
            <a:endParaRPr lang="en-US" sz="1275" dirty="0"/>
          </a:p>
        </p:txBody>
      </p:sp>
      <p:sp>
        <p:nvSpPr>
          <p:cNvPr id="49" name="Shape 46"/>
          <p:cNvSpPr/>
          <p:nvPr/>
        </p:nvSpPr>
        <p:spPr>
          <a:xfrm>
            <a:off x="13121729" y="4461272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3274129" y="4004072"/>
            <a:ext cx="1760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: 1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5110520" y="4461272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15262920" y="4023122"/>
            <a:ext cx="928688" cy="257175"/>
          </a:xfrm>
          <a:prstGeom prst="roundRect">
            <a:avLst>
              <a:gd name="adj" fmla="val 50000"/>
            </a:avLst>
          </a:prstGeom>
          <a:solidFill>
            <a:srgbClr val="9F2241">
              <a:alpha val="18000"/>
            </a:srgbClr>
          </a:solidFill>
          <a:ln w="9525">
            <a:solidFill>
              <a:srgbClr val="9F2241">
                <a:alpha val="55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5386745" y="4080272"/>
            <a:ext cx="757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36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57250" y="5099447"/>
            <a:ext cx="596637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1009650" y="4642247"/>
            <a:ext cx="584056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link in body copy</a:t>
            </a:r>
            <a:endParaRPr lang="en-US" sz="1425" dirty="0"/>
          </a:p>
        </p:txBody>
      </p:sp>
      <p:sp>
        <p:nvSpPr>
          <p:cNvPr id="56" name="Shape 53"/>
          <p:cNvSpPr/>
          <p:nvPr/>
        </p:nvSpPr>
        <p:spPr>
          <a:xfrm>
            <a:off x="6823621" y="5099447"/>
            <a:ext cx="430931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090321" y="4713684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7C803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337971" y="4704159"/>
            <a:ext cx="10141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 on white</a:t>
            </a:r>
            <a:endParaRPr lang="en-US" sz="1125" dirty="0"/>
          </a:p>
        </p:txBody>
      </p:sp>
      <p:sp>
        <p:nvSpPr>
          <p:cNvPr id="59" name="Shape 56"/>
          <p:cNvSpPr/>
          <p:nvPr/>
        </p:nvSpPr>
        <p:spPr>
          <a:xfrm>
            <a:off x="11132939" y="5099447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11285339" y="4642247"/>
            <a:ext cx="1760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4.21 : 1</a:t>
            </a:r>
            <a:endParaRPr lang="en-US" sz="1275" dirty="0"/>
          </a:p>
        </p:txBody>
      </p:sp>
      <p:sp>
        <p:nvSpPr>
          <p:cNvPr id="61" name="Shape 58"/>
          <p:cNvSpPr/>
          <p:nvPr/>
        </p:nvSpPr>
        <p:spPr>
          <a:xfrm>
            <a:off x="13121729" y="5099447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13274129" y="4642247"/>
            <a:ext cx="17601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: 1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5110520" y="5099447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15262920" y="4661297"/>
            <a:ext cx="884783" cy="257175"/>
          </a:xfrm>
          <a:prstGeom prst="roundRect">
            <a:avLst>
              <a:gd name="adj" fmla="val 50000"/>
            </a:avLst>
          </a:prstGeom>
          <a:solidFill>
            <a:srgbClr val="BC4700">
              <a:alpha val="18000"/>
            </a:srgbClr>
          </a:solidFill>
          <a:ln w="9525">
            <a:solidFill>
              <a:srgbClr val="BC4700">
                <a:alpha val="55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5386745" y="4718447"/>
            <a:ext cx="7133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5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857250" y="5832872"/>
            <a:ext cx="5966371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1009650" y="5280422"/>
            <a:ext cx="58405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ring on dark cards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6823621" y="5832872"/>
            <a:ext cx="4309318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7090321" y="5399484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CDDE00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337971" y="5389959"/>
            <a:ext cx="951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on navy</a:t>
            </a:r>
            <a:endParaRPr lang="en-US" sz="1125" dirty="0"/>
          </a:p>
        </p:txBody>
      </p:sp>
      <p:sp>
        <p:nvSpPr>
          <p:cNvPr id="71" name="Shape 68"/>
          <p:cNvSpPr/>
          <p:nvPr/>
        </p:nvSpPr>
        <p:spPr>
          <a:xfrm>
            <a:off x="11132939" y="5832872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2" name="Text 69"/>
          <p:cNvSpPr/>
          <p:nvPr/>
        </p:nvSpPr>
        <p:spPr>
          <a:xfrm>
            <a:off x="11285339" y="5280422"/>
            <a:ext cx="17601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 : 1 (non-text)</a:t>
            </a:r>
            <a:endParaRPr lang="en-US" sz="1275" dirty="0"/>
          </a:p>
        </p:txBody>
      </p:sp>
      <p:sp>
        <p:nvSpPr>
          <p:cNvPr id="73" name="Shape 70"/>
          <p:cNvSpPr/>
          <p:nvPr/>
        </p:nvSpPr>
        <p:spPr>
          <a:xfrm>
            <a:off x="13121729" y="5832872"/>
            <a:ext cx="198879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4" name="Text 71"/>
          <p:cNvSpPr/>
          <p:nvPr/>
        </p:nvSpPr>
        <p:spPr>
          <a:xfrm>
            <a:off x="13274129" y="5280422"/>
            <a:ext cx="17601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: 1</a:t>
            </a:r>
            <a:endParaRPr lang="en-US" sz="1425" dirty="0"/>
          </a:p>
        </p:txBody>
      </p:sp>
      <p:sp>
        <p:nvSpPr>
          <p:cNvPr id="75" name="Shape 72"/>
          <p:cNvSpPr/>
          <p:nvPr/>
        </p:nvSpPr>
        <p:spPr>
          <a:xfrm>
            <a:off x="15110520" y="5832872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15262920" y="5347097"/>
            <a:ext cx="884783" cy="257175"/>
          </a:xfrm>
          <a:prstGeom prst="roundRect">
            <a:avLst>
              <a:gd name="adj" fmla="val 50000"/>
            </a:avLst>
          </a:prstGeom>
          <a:solidFill>
            <a:srgbClr val="BC4700">
              <a:alpha val="18000"/>
            </a:srgbClr>
          </a:solidFill>
          <a:ln w="9525">
            <a:solidFill>
              <a:srgbClr val="BC4700">
                <a:alpha val="55000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5386745" y="5404247"/>
            <a:ext cx="7133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5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857250" y="6151959"/>
            <a:ext cx="117729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— restrict the brand lime to large display type and accents only; introduce a darker accent (</a:t>
            </a:r>
            <a:pPr algn="l" indent="0" marL="0">
              <a:buNone/>
            </a:pPr>
            <a:r>
              <a:rPr lang="en-US" sz="150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#7A8500 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for interactive elements on light backgrounds, and re-tone ISI body copy to pure white.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17286536" y="9801225"/>
            <a:ext cx="54426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39626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OPERABLE · 2.1.1 · 2.4.7 · 2.4.11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33057" y="885825"/>
            <a:ext cx="17478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critical · 4 serious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users cannot complete core flows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857250" y="2380059"/>
            <a:ext cx="8153400" cy="3043833"/>
          </a:xfrm>
          <a:prstGeom prst="roundRect">
            <a:avLst>
              <a:gd name="adj" fmla="val 12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09675" y="2732484"/>
            <a:ext cx="76720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01 · CRITICAL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09675" y="3084909"/>
            <a:ext cx="767200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drawer trap on mobile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209675" y="3594497"/>
            <a:ext cx="7672007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fixed ISI drawer captures focus when expanded but offers no way to dismiss or return to the page with a keyboard. Screen reader users on iOS are stranded.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209675" y="4900017"/>
            <a:ext cx="76720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#isi-drawer · expanded · no aria-modal · no Esc handler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9277350" y="2380059"/>
            <a:ext cx="8153400" cy="3043833"/>
          </a:xfrm>
          <a:prstGeom prst="roundRect">
            <a:avLst>
              <a:gd name="adj" fmla="val 12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29775" y="2732484"/>
            <a:ext cx="76720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02 · CRITICAL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629775" y="3084909"/>
            <a:ext cx="767200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card flow skips a step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629775" y="3594497"/>
            <a:ext cx="7672007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eligibility question on step 2 is rendered as a styled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&lt;div&gt;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click handler. Tab order bypasses it; users complete the form without consenting.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857250" y="5690592"/>
            <a:ext cx="8153400" cy="2643783"/>
          </a:xfrm>
          <a:prstGeom prst="roundRect">
            <a:avLst>
              <a:gd name="adj" fmla="val 14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9675" y="6043017"/>
            <a:ext cx="76720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03 · SERIOUS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209675" y="6395442"/>
            <a:ext cx="767200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indicator is invisible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209675" y="6905030"/>
            <a:ext cx="7672007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browser outline is suppressed globally with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outline: none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 replacement style. Users tabbing through the page have no idea where they are.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9277350" y="5690592"/>
            <a:ext cx="8153400" cy="2643783"/>
          </a:xfrm>
          <a:prstGeom prst="roundRect">
            <a:avLst>
              <a:gd name="adj" fmla="val 144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29775" y="6043017"/>
            <a:ext cx="76720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04 · SERIOUS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9629775" y="6395442"/>
            <a:ext cx="767200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"skip to content" link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9629775" y="6905030"/>
            <a:ext cx="7672007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site's primary nav contains 11 links. Keyboard and screen-reader users must traverse all of them on every page; a visible-on-focus skip link is missing.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7276415" y="9801225"/>
            <a:ext cx="5543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48630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UNDERSTANDABLE · 3.3.1 · 3.3.2 · 3.3.3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7273" y="885825"/>
            <a:ext cx="17292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critical · 4 serious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and error messaging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57250" y="2380059"/>
            <a:ext cx="83414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OBSERVED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57250" y="2808684"/>
            <a:ext cx="3429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295400" y="2808684"/>
            <a:ext cx="7890142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labels are visually present but implemented as adjacent text — not programmatically associated with the field.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57250" y="3545681"/>
            <a:ext cx="3429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295400" y="3545681"/>
            <a:ext cx="7890142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fields rely on a red asterisk alone; the requirement is never announced to assistive tech.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7250" y="4282678"/>
            <a:ext cx="3429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295400" y="4282678"/>
            <a:ext cx="7890142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states color the border red but do not move focus, scroll into view, or describe the error.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57250" y="5019675"/>
            <a:ext cx="3429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295400" y="5019675"/>
            <a:ext cx="7890142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ISI modal opens with a generic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role="dialog" </a:t>
            </a:r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 accessible name or description.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57250" y="5473898"/>
            <a:ext cx="3429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295400" y="5473898"/>
            <a:ext cx="7890142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Date-of-birth field accepts a single text input — no format hint, no input mask, no parsing tolerance.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9717732" y="2380059"/>
            <a:ext cx="79444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HERE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717732" y="2808684"/>
            <a:ext cx="7944408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card enrollment is the highest-converting moment on the site. Users who cannot complete the form are users who do not start therapy. This same form gates the patient support program.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9717732" y="4190405"/>
            <a:ext cx="19050" cy="107692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22" name="Text 19"/>
          <p:cNvSpPr/>
          <p:nvPr/>
        </p:nvSpPr>
        <p:spPr>
          <a:xfrm>
            <a:off x="9965382" y="4190405"/>
            <a:ext cx="7696758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priority. A correctly-labelled form with descriptive, focus-receiving error messages would resolve four of the five findings on this slide and is recoverable in a single sprint.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7276564" y="9801225"/>
            <a:ext cx="5542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27088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· 4.1.2 · 4.1.3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715792" y="885825"/>
            <a:ext cx="17514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critical · 4 serious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Semantics and ARIA hygiene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857250" y="2546747"/>
            <a:ext cx="49720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09650" y="2265759"/>
            <a:ext cx="4816412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5829300" y="2546747"/>
            <a:ext cx="5635079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981700" y="2265759"/>
            <a:ext cx="5499332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11464379" y="2546747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1616779" y="2265759"/>
            <a:ext cx="209163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13784610" y="2546747"/>
            <a:ext cx="36461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3937010" y="2265759"/>
            <a:ext cx="345072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857250" y="3156347"/>
            <a:ext cx="49720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09650" y="2727722"/>
            <a:ext cx="48164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hierarchy skips from H1 to H4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5829300" y="3156347"/>
            <a:ext cx="5635079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981700" y="2727722"/>
            <a:ext cx="5499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overview, mechanism of action, dosing pages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11464379" y="3156347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1616779" y="2732484"/>
            <a:ext cx="884783" cy="257175"/>
          </a:xfrm>
          <a:prstGeom prst="roundRect">
            <a:avLst>
              <a:gd name="adj" fmla="val 50000"/>
            </a:avLst>
          </a:prstGeom>
          <a:solidFill>
            <a:srgbClr val="BC4700">
              <a:alpha val="18000"/>
            </a:srgbClr>
          </a:solidFill>
          <a:ln w="9525">
            <a:solidFill>
              <a:srgbClr val="BC4700">
                <a:alpha val="5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740604" y="2789634"/>
            <a:ext cx="7133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5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3784610" y="3156347"/>
            <a:ext cx="36461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3937010" y="2727722"/>
            <a:ext cx="34507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content templating</a:t>
            </a:r>
            <a:endParaRPr lang="en-US" sz="1425" dirty="0"/>
          </a:p>
        </p:txBody>
      </p:sp>
      <p:sp>
        <p:nvSpPr>
          <p:cNvPr id="25" name="Shape 22"/>
          <p:cNvSpPr/>
          <p:nvPr/>
        </p:nvSpPr>
        <p:spPr>
          <a:xfrm>
            <a:off x="857250" y="3765947"/>
            <a:ext cx="49720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009650" y="3337322"/>
            <a:ext cx="48164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Decorative SVGs announced as images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5829300" y="3765947"/>
            <a:ext cx="5635079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981700" y="3337322"/>
            <a:ext cx="5499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flourishes and hero shapes on 6 templates</a:t>
            </a:r>
            <a:endParaRPr lang="en-US" sz="1425" dirty="0"/>
          </a:p>
        </p:txBody>
      </p:sp>
      <p:sp>
        <p:nvSpPr>
          <p:cNvPr id="29" name="Shape 26"/>
          <p:cNvSpPr/>
          <p:nvPr/>
        </p:nvSpPr>
        <p:spPr>
          <a:xfrm>
            <a:off x="11464379" y="3765947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11616779" y="3342084"/>
            <a:ext cx="1035248" cy="257175"/>
          </a:xfrm>
          <a:prstGeom prst="roundRect">
            <a:avLst>
              <a:gd name="adj" fmla="val 50000"/>
            </a:avLst>
          </a:prstGeom>
          <a:solidFill>
            <a:srgbClr val="D4A93B">
              <a:alpha val="16000"/>
            </a:srgbClr>
          </a:solidFill>
          <a:ln w="9525">
            <a:solidFill>
              <a:srgbClr val="D4A93B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740604" y="3399234"/>
            <a:ext cx="8637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0B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3784610" y="3765947"/>
            <a:ext cx="36461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3937010" y="3337322"/>
            <a:ext cx="34507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 — add </a:t>
            </a:r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aria-hidden</a:t>
            </a:r>
            <a:endParaRPr lang="en-US" sz="1425" dirty="0"/>
          </a:p>
        </p:txBody>
      </p:sp>
      <p:sp>
        <p:nvSpPr>
          <p:cNvPr id="34" name="Shape 31"/>
          <p:cNvSpPr/>
          <p:nvPr/>
        </p:nvSpPr>
        <p:spPr>
          <a:xfrm>
            <a:off x="857250" y="4375547"/>
            <a:ext cx="49720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1009650" y="3946922"/>
            <a:ext cx="48164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toggle missing </a:t>
            </a:r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aria-pressed</a:t>
            </a:r>
            <a:endParaRPr lang="en-US" sz="1425" dirty="0"/>
          </a:p>
        </p:txBody>
      </p:sp>
      <p:sp>
        <p:nvSpPr>
          <p:cNvPr id="36" name="Shape 33"/>
          <p:cNvSpPr/>
          <p:nvPr/>
        </p:nvSpPr>
        <p:spPr>
          <a:xfrm>
            <a:off x="5829300" y="4375547"/>
            <a:ext cx="5635079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981700" y="3946922"/>
            <a:ext cx="5499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/ HCP audience switch in primary nav</a:t>
            </a:r>
            <a:endParaRPr lang="en-US" sz="1425" dirty="0"/>
          </a:p>
        </p:txBody>
      </p:sp>
      <p:sp>
        <p:nvSpPr>
          <p:cNvPr id="38" name="Shape 35"/>
          <p:cNvSpPr/>
          <p:nvPr/>
        </p:nvSpPr>
        <p:spPr>
          <a:xfrm>
            <a:off x="11464379" y="4375547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1616779" y="3951684"/>
            <a:ext cx="884783" cy="257175"/>
          </a:xfrm>
          <a:prstGeom prst="roundRect">
            <a:avLst>
              <a:gd name="adj" fmla="val 50000"/>
            </a:avLst>
          </a:prstGeom>
          <a:solidFill>
            <a:srgbClr val="BC4700">
              <a:alpha val="18000"/>
            </a:srgbClr>
          </a:solidFill>
          <a:ln w="9525">
            <a:solidFill>
              <a:srgbClr val="BC4700">
                <a:alpha val="5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740604" y="4008834"/>
            <a:ext cx="7133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5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3784610" y="4375547"/>
            <a:ext cx="36461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13937010" y="3946922"/>
            <a:ext cx="34507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component update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857250" y="4985147"/>
            <a:ext cx="49720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1009650" y="4556522"/>
            <a:ext cx="48164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region not announced on form submit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5829300" y="4985147"/>
            <a:ext cx="5635079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5981700" y="4556522"/>
            <a:ext cx="5499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card and HCP rep-request forms</a:t>
            </a:r>
            <a:endParaRPr lang="en-US" sz="1425" dirty="0"/>
          </a:p>
        </p:txBody>
      </p:sp>
      <p:sp>
        <p:nvSpPr>
          <p:cNvPr id="47" name="Shape 44"/>
          <p:cNvSpPr/>
          <p:nvPr/>
        </p:nvSpPr>
        <p:spPr>
          <a:xfrm>
            <a:off x="11464379" y="4985147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11616779" y="4561284"/>
            <a:ext cx="884783" cy="257175"/>
          </a:xfrm>
          <a:prstGeom prst="roundRect">
            <a:avLst>
              <a:gd name="adj" fmla="val 50000"/>
            </a:avLst>
          </a:prstGeom>
          <a:solidFill>
            <a:srgbClr val="BC4700">
              <a:alpha val="18000"/>
            </a:srgbClr>
          </a:solidFill>
          <a:ln w="9525">
            <a:solidFill>
              <a:srgbClr val="BC4700">
                <a:alpha val="5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1740604" y="4618434"/>
            <a:ext cx="7133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5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3784610" y="4985147"/>
            <a:ext cx="36461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13937010" y="4556522"/>
            <a:ext cx="34507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— needs SR testing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857250" y="5594747"/>
            <a:ext cx="49720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1009650" y="5166122"/>
            <a:ext cx="48164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landmark roles on home</a:t>
            </a:r>
            <a:endParaRPr lang="en-US" sz="1425" dirty="0"/>
          </a:p>
        </p:txBody>
      </p:sp>
      <p:sp>
        <p:nvSpPr>
          <p:cNvPr id="54" name="Shape 51"/>
          <p:cNvSpPr/>
          <p:nvPr/>
        </p:nvSpPr>
        <p:spPr>
          <a:xfrm>
            <a:off x="5829300" y="5594747"/>
            <a:ext cx="5635079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5981700" y="5166122"/>
            <a:ext cx="54993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</a:t>
            </a:r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 </a:t>
            </a:r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elements; three </a:t>
            </a:r>
            <a:pPr algn="l" indent="0" marL="0">
              <a:buNone/>
            </a:pPr>
            <a:r>
              <a:rPr lang="en-US" sz="1275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role="banner"</a:t>
            </a:r>
            <a:endParaRPr lang="en-US" sz="1425" dirty="0"/>
          </a:p>
        </p:txBody>
      </p:sp>
      <p:sp>
        <p:nvSpPr>
          <p:cNvPr id="56" name="Shape 53"/>
          <p:cNvSpPr/>
          <p:nvPr/>
        </p:nvSpPr>
        <p:spPr>
          <a:xfrm>
            <a:off x="11464379" y="5594747"/>
            <a:ext cx="23202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11616779" y="5170884"/>
            <a:ext cx="1035248" cy="257175"/>
          </a:xfrm>
          <a:prstGeom prst="roundRect">
            <a:avLst>
              <a:gd name="adj" fmla="val 50000"/>
            </a:avLst>
          </a:prstGeom>
          <a:solidFill>
            <a:srgbClr val="D4A93B">
              <a:alpha val="16000"/>
            </a:srgbClr>
          </a:solidFill>
          <a:ln w="9525">
            <a:solidFill>
              <a:srgbClr val="D4A93B">
                <a:alpha val="5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1740604" y="5228034"/>
            <a:ext cx="8637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E0B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13784610" y="5594747"/>
            <a:ext cx="364614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13937010" y="5166122"/>
            <a:ext cx="34507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 — markup cleanup</a:t>
            </a:r>
            <a:endParaRPr lang="en-US" sz="1425" dirty="0"/>
          </a:p>
        </p:txBody>
      </p:sp>
      <p:sp>
        <p:nvSpPr>
          <p:cNvPr id="61" name="Text 58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17296358" y="9801225"/>
            <a:ext cx="53444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10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7250" y="857250"/>
            <a:ext cx="170707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2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7250" y="1209675"/>
            <a:ext cx="17070705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spc="-5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90-day path to AA conformance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57250" y="2151459"/>
            <a:ext cx="804481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waves of remediation. Wave one ships the critical fixes before the September brand campaign.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57250" y="3465909"/>
            <a:ext cx="5372100" cy="1905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9" name="Text 6"/>
          <p:cNvSpPr/>
          <p:nvPr/>
        </p:nvSpPr>
        <p:spPr>
          <a:xfrm>
            <a:off x="857250" y="3694509"/>
            <a:ext cx="5533263" cy="166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b="1" spc="215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01 · NOW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857250" y="3899446"/>
            <a:ext cx="553326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0 — 30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57250" y="4470946"/>
            <a:ext cx="5372100" cy="729407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9175" y="4613821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019175" y="4836616"/>
            <a:ext cx="42399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Re-tone CTAs, ISI body, and helper text to pass 4.5 : 1.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57250" y="5333702"/>
            <a:ext cx="5372100" cy="969318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9175" y="5476577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019175" y="5699373"/>
            <a:ext cx="5113700" cy="478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ISI drawer with a focus-managed dialog; add Esc + close button.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57250" y="6436370"/>
            <a:ext cx="5372100" cy="729407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9175" y="6579245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019175" y="6802041"/>
            <a:ext cx="34776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savings-card consent step to a real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438948" y="6802041"/>
            <a:ext cx="7855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&lt;button&gt;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148263" y="6802041"/>
            <a:ext cx="1223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57250" y="7299127"/>
            <a:ext cx="5372100" cy="729407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19175" y="7442002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019175" y="7664797"/>
            <a:ext cx="49501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a visible 2 px focus ring across all interactive elements.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457950" y="3465909"/>
            <a:ext cx="5372100" cy="1905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26" name="Text 23"/>
          <p:cNvSpPr/>
          <p:nvPr/>
        </p:nvSpPr>
        <p:spPr>
          <a:xfrm>
            <a:off x="6457950" y="3694509"/>
            <a:ext cx="5533263" cy="166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b="1" spc="215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02 · NEXT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6457950" y="3899446"/>
            <a:ext cx="553326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30 — 60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6457950" y="4470946"/>
            <a:ext cx="5372100" cy="969318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19875" y="4613821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6619875" y="4836616"/>
            <a:ext cx="4675129" cy="478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skip-to-content link and fix heading hierarchy in CMS templates.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6457950" y="5573613"/>
            <a:ext cx="5372100" cy="969318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19875" y="5716488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6619875" y="5939284"/>
            <a:ext cx="5063727" cy="478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Programmatically associate every form label and add descriptive error messages.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457950" y="6676281"/>
            <a:ext cx="5372100" cy="969318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19875" y="6819156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6619875" y="7041952"/>
            <a:ext cx="4896637" cy="478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and correct ARIA on the audience toggle, accordion, and tabs.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457950" y="7778948"/>
            <a:ext cx="5372100" cy="729407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19875" y="7921823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6619875" y="8144619"/>
            <a:ext cx="48926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live regions for form submission and ISI expansion events.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12058650" y="3465909"/>
            <a:ext cx="5372100" cy="19050"/>
          </a:xfrm>
          <a:prstGeom prst="rect">
            <a:avLst/>
          </a:prstGeom>
          <a:solidFill>
            <a:srgbClr val="8C9AA3"/>
          </a:solidFill>
          <a:ln/>
        </p:spPr>
      </p:sp>
      <p:sp>
        <p:nvSpPr>
          <p:cNvPr id="41" name="Text 38"/>
          <p:cNvSpPr/>
          <p:nvPr/>
        </p:nvSpPr>
        <p:spPr>
          <a:xfrm>
            <a:off x="12058650" y="3694509"/>
            <a:ext cx="5533263" cy="166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75" b="1" spc="215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03 · LATER</a:t>
            </a:r>
            <a:endParaRPr lang="en-US" sz="975" dirty="0"/>
          </a:p>
        </p:txBody>
      </p:sp>
      <p:sp>
        <p:nvSpPr>
          <p:cNvPr id="42" name="Text 39"/>
          <p:cNvSpPr/>
          <p:nvPr/>
        </p:nvSpPr>
        <p:spPr>
          <a:xfrm>
            <a:off x="12058650" y="3899446"/>
            <a:ext cx="553326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60 — 90</a:t>
            </a:r>
            <a:endParaRPr lang="en-US" sz="2400" dirty="0"/>
          </a:p>
        </p:txBody>
      </p:sp>
      <p:sp>
        <p:nvSpPr>
          <p:cNvPr id="43" name="Shape 40"/>
          <p:cNvSpPr/>
          <p:nvPr/>
        </p:nvSpPr>
        <p:spPr>
          <a:xfrm>
            <a:off x="12058650" y="4470946"/>
            <a:ext cx="5372100" cy="729407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2220575" y="4613821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8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12220575" y="4836616"/>
            <a:ext cx="48557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landmark roles and decorative SVG announcements.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12058650" y="5333702"/>
            <a:ext cx="5372100" cy="969318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2220575" y="5476577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8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12220575" y="5699373"/>
            <a:ext cx="4802669" cy="478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accessible component patterns in the Veridine design system.</a:t>
            </a:r>
            <a:endParaRPr lang="en-US" sz="1350" dirty="0"/>
          </a:p>
        </p:txBody>
      </p:sp>
      <p:sp>
        <p:nvSpPr>
          <p:cNvPr id="49" name="Shape 46"/>
          <p:cNvSpPr/>
          <p:nvPr/>
        </p:nvSpPr>
        <p:spPr>
          <a:xfrm>
            <a:off x="12058650" y="6436370"/>
            <a:ext cx="5372100" cy="729407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220575" y="6579245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8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12220575" y="6802041"/>
            <a:ext cx="49084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automated axe scans to CI; require manual SR pass at QA.</a:t>
            </a:r>
            <a:endParaRPr lang="en-US" sz="1350" dirty="0"/>
          </a:p>
        </p:txBody>
      </p:sp>
      <p:sp>
        <p:nvSpPr>
          <p:cNvPr id="52" name="Shape 49"/>
          <p:cNvSpPr/>
          <p:nvPr/>
        </p:nvSpPr>
        <p:spPr>
          <a:xfrm>
            <a:off x="12058650" y="7299127"/>
            <a:ext cx="5372100" cy="729407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2220575" y="7442002"/>
            <a:ext cx="5199698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spc="149" kern="0" dirty="0">
                <a:solidFill>
                  <a:srgbClr val="8C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25" dirty="0"/>
          </a:p>
        </p:txBody>
      </p:sp>
      <p:sp>
        <p:nvSpPr>
          <p:cNvPr id="54" name="Text 51"/>
          <p:cNvSpPr/>
          <p:nvPr/>
        </p:nvSpPr>
        <p:spPr>
          <a:xfrm>
            <a:off x="12220575" y="7664797"/>
            <a:ext cx="44845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an accessibility statement and feedback channel.</a:t>
            </a:r>
            <a:endParaRPr lang="en-US" sz="1350" dirty="0"/>
          </a:p>
        </p:txBody>
      </p:sp>
      <p:sp>
        <p:nvSpPr>
          <p:cNvPr id="55" name="Text 52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7315408" y="9801225"/>
            <a:ext cx="5153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DDE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3400" y="361950"/>
            <a:ext cx="361950" cy="361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8700" y="442913"/>
            <a:ext cx="20389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094786" y="3262313"/>
            <a:ext cx="42213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08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· Q&amp;A · NEXT STEPS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43574" y="3690937"/>
            <a:ext cx="9476878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0" spc="-720" kern="0" dirty="0">
                <a:solidFill>
                  <a:srgbClr val="08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0" dirty="0"/>
          </a:p>
        </p:txBody>
      </p:sp>
      <p:sp>
        <p:nvSpPr>
          <p:cNvPr id="7" name="Text 4"/>
          <p:cNvSpPr/>
          <p:nvPr/>
        </p:nvSpPr>
        <p:spPr>
          <a:xfrm>
            <a:off x="5832128" y="6319838"/>
            <a:ext cx="296545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081F2B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LEAD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32128" y="6538913"/>
            <a:ext cx="29654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8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Avery Tan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832128" y="6824663"/>
            <a:ext cx="29654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81F2B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UX Strategist · Relevate Health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473208" y="6319838"/>
            <a:ext cx="307199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081F2B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SPECIALIST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473208" y="6538913"/>
            <a:ext cx="30719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8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Shankar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473208" y="6824663"/>
            <a:ext cx="30719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81F2B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 Design Lead · Relevate Health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3400" y="9801225"/>
            <a:ext cx="42385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081F2B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VERIDINE PHARMA + RELEVATE HEALTH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7299335" y="9801225"/>
            <a:ext cx="5314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081F2B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2026-05-20T16:31:30Z</dcterms:created>
  <dcterms:modified xsi:type="dcterms:W3CDTF">2026-05-20T16:31:30Z</dcterms:modified>
</cp:coreProperties>
</file>