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800100" cy="398115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9800" y="1189583"/>
            <a:ext cx="1715393" cy="3048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43000" y="2447925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MAKING THE CASE</a:t>
            </a:r>
            <a:endParaRPr lang="en-US" sz="1800" dirty="0"/>
          </a:p>
        </p:txBody>
      </p:sp>
      <p:sp>
        <p:nvSpPr>
          <p:cNvPr id="6" name="Text 1"/>
          <p:cNvSpPr/>
          <p:nvPr/>
        </p:nvSpPr>
        <p:spPr>
          <a:xfrm>
            <a:off x="1143000" y="3057525"/>
            <a:ext cx="14716125" cy="28906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200" spc="-108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Game-based HCP education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08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earns its place </a:t>
            </a:r>
            <a:pPr algn="l" indent="0" marL="0">
              <a:lnSpc>
                <a:spcPct val="104000"/>
              </a:lnSpc>
              <a:buNone/>
            </a:pPr>
            <a:r>
              <a:rPr lang="en-US" sz="7200" spc="-108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the exam room.</a:t>
            </a:r>
            <a:endParaRPr lang="en-US" sz="7200" dirty="0"/>
          </a:p>
        </p:txBody>
      </p:sp>
      <p:sp>
        <p:nvSpPr>
          <p:cNvPr id="7" name="Shape 2"/>
          <p:cNvSpPr/>
          <p:nvPr/>
        </p:nvSpPr>
        <p:spPr>
          <a:xfrm>
            <a:off x="1143000" y="6443514"/>
            <a:ext cx="762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8" name="Text 3"/>
          <p:cNvSpPr/>
          <p:nvPr/>
        </p:nvSpPr>
        <p:spPr>
          <a:xfrm>
            <a:off x="1143000" y="6862614"/>
            <a:ext cx="11772900" cy="993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850" spc="6" kern="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research with 11 HCPs across family medicine, internal medicine, pediatrics, and urgent care.</a:t>
            </a:r>
            <a:endParaRPr lang="en-US" sz="2850" dirty="0"/>
          </a:p>
        </p:txBody>
      </p:sp>
      <p:sp>
        <p:nvSpPr>
          <p:cNvPr id="9" name="Text 4"/>
          <p:cNvSpPr/>
          <p:nvPr/>
        </p:nvSpPr>
        <p:spPr>
          <a:xfrm>
            <a:off x="1143000" y="8724900"/>
            <a:ext cx="215398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PREPARED FOR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143000" y="9067800"/>
            <a:ext cx="530485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MEDICAL AFFAIRS · COMMERCIAL · L&amp;D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7055346" y="8724900"/>
            <a:ext cx="90055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BASIS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7055346" y="9067800"/>
            <a:ext cx="46959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MODERATED HCP RESEARCH, 2025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2376547" y="8724900"/>
            <a:ext cx="113273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2376547" y="9067800"/>
            <a:ext cx="476357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DISCUSSION DRAFT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0A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33413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2983319" y="533400"/>
            <a:ext cx="42865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7C3C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RH · HEALTHY DISCUSSIONS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333500"/>
            <a:ext cx="147161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CASE IN ONE PAGE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943100"/>
            <a:ext cx="14716125" cy="39753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850" spc="-7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When game-based learning is built on real clinical data, designed for HCPs, and deployed to the right audience — </a:t>
            </a:r>
            <a:pPr algn="l" indent="0" marL="0">
              <a:lnSpc>
                <a:spcPct val="106000"/>
              </a:lnSpc>
              <a:buNone/>
            </a:pPr>
            <a:r>
              <a:rPr lang="en-US" sz="5850" spc="-70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 produces outcomes traditional formats have not delivered.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1143000" y="7368927"/>
            <a:ext cx="3767328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21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+2</a:t>
            </a:r>
            <a:pPr algn="l" indent="0" marL="0">
              <a:lnSpc>
                <a:spcPct val="95000"/>
              </a:lnSpc>
              <a:buNone/>
            </a:pPr>
            <a:r>
              <a:rPr lang="en-US" sz="4200" spc="-21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pts</a:t>
            </a:r>
            <a:endParaRPr lang="en-US" sz="7200" dirty="0"/>
          </a:p>
        </p:txBody>
      </p:sp>
      <p:sp>
        <p:nvSpPr>
          <p:cNvPr id="8" name="Text 6"/>
          <p:cNvSpPr/>
          <p:nvPr/>
        </p:nvSpPr>
        <p:spPr>
          <a:xfrm>
            <a:off x="1143000" y="8408938"/>
            <a:ext cx="3139440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pc="6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 gain on a 7-point scale after a single gameplay session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5257800" y="7368927"/>
            <a:ext cx="3767328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21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pPr algn="l" indent="0" marL="0">
              <a:lnSpc>
                <a:spcPct val="95000"/>
              </a:lnSpc>
              <a:buNone/>
            </a:pPr>
            <a:r>
              <a:rPr lang="en-US" sz="4200" spc="-216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/11</a:t>
            </a:r>
            <a:endParaRPr lang="en-US" sz="7200" dirty="0"/>
          </a:p>
        </p:txBody>
      </p:sp>
      <p:sp>
        <p:nvSpPr>
          <p:cNvPr id="10" name="Text 8"/>
          <p:cNvSpPr/>
          <p:nvPr/>
        </p:nvSpPr>
        <p:spPr>
          <a:xfrm>
            <a:off x="5257800" y="8408938"/>
            <a:ext cx="3139440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pc="6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HCPs rate hesitation to engage with game-based learning at 3/7 or below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372600" y="7368927"/>
            <a:ext cx="3767328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21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9+</a:t>
            </a:r>
            <a:pPr algn="l" indent="0" marL="0">
              <a:lnSpc>
                <a:spcPct val="95000"/>
              </a:lnSpc>
              <a:buNone/>
            </a:pPr>
            <a:r>
              <a:rPr lang="en-US" sz="4200" spc="-21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7200" dirty="0"/>
          </a:p>
        </p:txBody>
      </p:sp>
      <p:sp>
        <p:nvSpPr>
          <p:cNvPr id="12" name="Text 10"/>
          <p:cNvSpPr/>
          <p:nvPr/>
        </p:nvSpPr>
        <p:spPr>
          <a:xfrm>
            <a:off x="9372600" y="8408938"/>
            <a:ext cx="3139440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pc="6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to recommend among HCPs who found the game relevant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487400" y="7368927"/>
            <a:ext cx="3767328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21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pPr algn="l" indent="0" marL="0">
              <a:lnSpc>
                <a:spcPct val="95000"/>
              </a:lnSpc>
              <a:buNone/>
            </a:pPr>
            <a:r>
              <a:rPr lang="en-US" sz="4200" spc="-216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/11</a:t>
            </a:r>
            <a:endParaRPr lang="en-US" sz="7200" dirty="0"/>
          </a:p>
        </p:txBody>
      </p:sp>
      <p:sp>
        <p:nvSpPr>
          <p:cNvPr id="14" name="Text 12"/>
          <p:cNvSpPr/>
          <p:nvPr/>
        </p:nvSpPr>
        <p:spPr>
          <a:xfrm>
            <a:off x="13487400" y="8408938"/>
            <a:ext cx="3139440" cy="96366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5000"/>
              </a:lnSpc>
              <a:buNone/>
            </a:pPr>
            <a:r>
              <a:rPr lang="en-US" sz="1800" spc="6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Want game-based learning extended to additional treatments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783348" y="9563100"/>
            <a:ext cx="4378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61824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1897112"/>
            <a:ext cx="255150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ONE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05000" y="2697212"/>
            <a:ext cx="2182564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spc="-720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01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1905000" y="4983212"/>
            <a:ext cx="7748346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0" spc="-15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HCP challenge.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1905000" y="6556623"/>
            <a:ext cx="1524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7" name="Text 5"/>
          <p:cNvSpPr/>
          <p:nvPr/>
        </p:nvSpPr>
        <p:spPr>
          <a:xfrm>
            <a:off x="1905000" y="7051923"/>
            <a:ext cx="10791825" cy="1471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850" spc="6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HCPs are not struggling for conviction. They are struggling because the conversations are complex, time-constrained, and emotionally loaded — and their tools have not kept pace.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43000" y="9563100"/>
            <a:ext cx="26889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775757" y="9563100"/>
            <a:ext cx="4454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32605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HCP CHALLENGE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116002" y="533400"/>
            <a:ext cx="110519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51515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·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DAILY REALITY, IN THREE VOICES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905000"/>
            <a:ext cx="14716125" cy="258216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6300" spc="-76" kern="0" dirty="0">
                <a:solidFill>
                  <a:srgbClr val="0A16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conversations are already happening. </a:t>
            </a:r>
            <a:pPr algn="l" indent="0" marL="0">
              <a:lnSpc>
                <a:spcPct val="106000"/>
              </a:lnSpc>
              <a:buNone/>
            </a:pPr>
            <a:r>
              <a:rPr lang="en-US" sz="6300" spc="-76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tools haven't caught up.</a:t>
            </a:r>
            <a:endParaRPr lang="en-US" sz="6300" dirty="0"/>
          </a:p>
        </p:txBody>
      </p:sp>
      <p:sp>
        <p:nvSpPr>
          <p:cNvPr id="6" name="Text 4"/>
          <p:cNvSpPr/>
          <p:nvPr/>
        </p:nvSpPr>
        <p:spPr>
          <a:xfrm>
            <a:off x="1143000" y="5401568"/>
            <a:ext cx="5101590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spc="-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1143000" y="6285458"/>
            <a:ext cx="571500" cy="3810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6628358"/>
            <a:ext cx="4512945" cy="874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700" spc="-13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comes up every day — repeatedly.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1143000" y="7769572"/>
            <a:ext cx="470916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"Today, ten minutes ago." Most HCPs no longer raise the topic proactively because patients have already made up their minds.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6667500" y="5401568"/>
            <a:ext cx="5101590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spc="-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Shape 9"/>
          <p:cNvSpPr/>
          <p:nvPr/>
        </p:nvSpPr>
        <p:spPr>
          <a:xfrm>
            <a:off x="6667500" y="6285458"/>
            <a:ext cx="571500" cy="3810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2" name="Text 10"/>
          <p:cNvSpPr/>
          <p:nvPr/>
        </p:nvSpPr>
        <p:spPr>
          <a:xfrm>
            <a:off x="6667500" y="6628358"/>
            <a:ext cx="4512945" cy="874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700" spc="-13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Resistance isn't monolithic — but training treats it that way.</a:t>
            </a:r>
            <a:endParaRPr lang="en-US" sz="2700" dirty="0"/>
          </a:p>
        </p:txBody>
      </p:sp>
      <p:sp>
        <p:nvSpPr>
          <p:cNvPr id="13" name="Text 11"/>
          <p:cNvSpPr/>
          <p:nvPr/>
        </p:nvSpPr>
        <p:spPr>
          <a:xfrm>
            <a:off x="6667500" y="7769572"/>
            <a:ext cx="470916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Adverse-event fear, public-figure distrust, social media misinformation, government suspicion. One scripted response can't cover it.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192000" y="5401568"/>
            <a:ext cx="5101590" cy="6171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4800" spc="-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12192000" y="6285458"/>
            <a:ext cx="571500" cy="3810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6" name="Text 14"/>
          <p:cNvSpPr/>
          <p:nvPr/>
        </p:nvSpPr>
        <p:spPr>
          <a:xfrm>
            <a:off x="12192000" y="6628358"/>
            <a:ext cx="4512945" cy="87451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700" spc="-13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available tools are falling short.</a:t>
            </a:r>
            <a:endParaRPr lang="en-US" sz="2700" dirty="0"/>
          </a:p>
        </p:txBody>
      </p:sp>
      <p:sp>
        <p:nvSpPr>
          <p:cNvPr id="17" name="Text 15"/>
          <p:cNvSpPr/>
          <p:nvPr/>
        </p:nvSpPr>
        <p:spPr>
          <a:xfrm>
            <a:off x="12192000" y="7769572"/>
            <a:ext cx="4709160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CDC sheets described as "boring and wordy." Journal articles useful for self-study but they don't translate into patient conversation.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772632" y="9563100"/>
            <a:ext cx="44856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61824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1897112"/>
            <a:ext cx="260598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TWO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05000" y="2697212"/>
            <a:ext cx="2667604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spc="-720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02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1905000" y="4983212"/>
            <a:ext cx="6360892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0" spc="-15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numbers.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1905000" y="6556623"/>
            <a:ext cx="1524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7" name="Text 5"/>
          <p:cNvSpPr/>
          <p:nvPr/>
        </p:nvSpPr>
        <p:spPr>
          <a:xfrm>
            <a:off x="1905000" y="7051923"/>
            <a:ext cx="10791825" cy="147131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850" spc="6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Independent moderated research with eleven Healthcare Professionals across family medicine, internal medicine, pediatrics, and urgent care.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43000" y="9563100"/>
            <a:ext cx="26889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777395" y="9563100"/>
            <a:ext cx="4438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0A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435152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 · 01 OF 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38214" y="533400"/>
            <a:ext cx="198298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7C3C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CONFIDENCE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421582"/>
            <a:ext cx="56750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01 · CONFIDENCE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993082"/>
            <a:ext cx="1373237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396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+2</a:t>
            </a:r>
            <a:endParaRPr lang="en-US" sz="9900" dirty="0"/>
          </a:p>
        </p:txBody>
      </p:sp>
      <p:sp>
        <p:nvSpPr>
          <p:cNvPr id="7" name="Text 5"/>
          <p:cNvSpPr/>
          <p:nvPr/>
        </p:nvSpPr>
        <p:spPr>
          <a:xfrm>
            <a:off x="2611487" y="3507432"/>
            <a:ext cx="4162517" cy="12954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42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points on a 7-point scale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143000" y="5069532"/>
            <a:ext cx="762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5488632"/>
            <a:ext cx="5675059" cy="2510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spc="-1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HCPs with genuine room to develop reported gains of </a:t>
            </a:r>
            <a:pPr algn="l" indent="0" marL="0">
              <a:lnSpc>
                <a:spcPct val="118000"/>
              </a:lnSpc>
              <a:buNone/>
            </a:pPr>
            <a:r>
              <a:rPr lang="en-US" sz="3300" spc="-1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+1 to +2 points </a:t>
            </a:r>
            <a:pPr algn="l" indent="0" marL="0">
              <a:lnSpc>
                <a:spcPct val="118000"/>
              </a:lnSpc>
              <a:buNone/>
            </a:pPr>
            <a:r>
              <a:rPr lang="en-US" sz="3300" spc="-1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conversational confidence after a single gameplay session.</a:t>
            </a:r>
            <a:endParaRPr lang="en-US" sz="3300" dirty="0"/>
          </a:p>
        </p:txBody>
      </p:sp>
      <p:sp>
        <p:nvSpPr>
          <p:cNvPr id="10" name="Shape 8"/>
          <p:cNvSpPr/>
          <p:nvPr/>
        </p:nvSpPr>
        <p:spPr>
          <a:xfrm>
            <a:off x="7605266" y="3425279"/>
            <a:ext cx="9525" cy="3531691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7995791" y="3425279"/>
            <a:ext cx="94236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BEFORE · AFTER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995791" y="3996779"/>
            <a:ext cx="3571113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spc="6" kern="0" dirty="0">
                <a:solidFill>
                  <a:srgbClr val="FFFFFF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8250" dirty="0"/>
          </a:p>
        </p:txBody>
      </p:sp>
      <p:sp>
        <p:nvSpPr>
          <p:cNvPr id="13" name="Shape 11"/>
          <p:cNvSpPr/>
          <p:nvPr/>
        </p:nvSpPr>
        <p:spPr>
          <a:xfrm>
            <a:off x="7995791" y="5311229"/>
            <a:ext cx="381000" cy="381000"/>
          </a:xfrm>
          <a:prstGeom prst="ellipse">
            <a:avLst/>
          </a:prstGeom>
          <a:solidFill>
            <a:srgbClr val="CDDE00"/>
          </a:solidFill>
          <a:ln w="19050">
            <a:solidFill>
              <a:srgbClr val="CDDE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510141" y="5311229"/>
            <a:ext cx="381000" cy="381000"/>
          </a:xfrm>
          <a:prstGeom prst="ellipse">
            <a:avLst/>
          </a:prstGeom>
          <a:solidFill>
            <a:srgbClr val="CDDE00"/>
          </a:solidFill>
          <a:ln w="19050">
            <a:solidFill>
              <a:srgbClr val="CDDE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024491" y="5311229"/>
            <a:ext cx="381000" cy="381000"/>
          </a:xfrm>
          <a:prstGeom prst="ellipse">
            <a:avLst/>
          </a:prstGeom>
          <a:solidFill>
            <a:srgbClr val="CDDE00"/>
          </a:solidFill>
          <a:ln w="19050">
            <a:solidFill>
              <a:srgbClr val="CDDE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538841" y="5311229"/>
            <a:ext cx="381000" cy="381000"/>
          </a:xfrm>
          <a:prstGeom prst="ellipse">
            <a:avLst/>
          </a:prstGeom>
          <a:solidFill>
            <a:srgbClr val="CDDE00"/>
          </a:solidFill>
          <a:ln w="19050">
            <a:solidFill>
              <a:srgbClr val="CDDE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053191" y="5311229"/>
            <a:ext cx="381000" cy="381000"/>
          </a:xfrm>
          <a:prstGeom prst="ellipse">
            <a:avLst/>
          </a:prstGeom>
          <a:ln w="190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567541" y="5311229"/>
            <a:ext cx="381000" cy="381000"/>
          </a:xfrm>
          <a:prstGeom prst="ellipse">
            <a:avLst/>
          </a:prstGeom>
          <a:ln w="190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1081891" y="5311229"/>
            <a:ext cx="381000" cy="381000"/>
          </a:xfrm>
          <a:prstGeom prst="ellipse">
            <a:avLst/>
          </a:prstGeom>
          <a:ln w="190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224891" y="4796879"/>
            <a:ext cx="767209" cy="933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spc="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6000" dirty="0"/>
          </a:p>
        </p:txBody>
      </p:sp>
      <p:sp>
        <p:nvSpPr>
          <p:cNvPr id="21" name="Text 19"/>
          <p:cNvSpPr/>
          <p:nvPr/>
        </p:nvSpPr>
        <p:spPr>
          <a:xfrm>
            <a:off x="13677900" y="3996779"/>
            <a:ext cx="3571113" cy="10858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825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8250" dirty="0"/>
          </a:p>
        </p:txBody>
      </p:sp>
      <p:sp>
        <p:nvSpPr>
          <p:cNvPr id="22" name="Shape 20"/>
          <p:cNvSpPr/>
          <p:nvPr/>
        </p:nvSpPr>
        <p:spPr>
          <a:xfrm>
            <a:off x="13677900" y="5311229"/>
            <a:ext cx="381000" cy="381000"/>
          </a:xfrm>
          <a:prstGeom prst="ellipse">
            <a:avLst/>
          </a:prstGeom>
          <a:solidFill>
            <a:srgbClr val="CDDE00"/>
          </a:solidFill>
          <a:ln w="19050">
            <a:solidFill>
              <a:srgbClr val="CDDE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4192250" y="5311229"/>
            <a:ext cx="381000" cy="381000"/>
          </a:xfrm>
          <a:prstGeom prst="ellipse">
            <a:avLst/>
          </a:prstGeom>
          <a:solidFill>
            <a:srgbClr val="CDDE00"/>
          </a:solidFill>
          <a:ln w="19050">
            <a:solidFill>
              <a:srgbClr val="CDDE0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706600" y="5311229"/>
            <a:ext cx="381000" cy="381000"/>
          </a:xfrm>
          <a:prstGeom prst="ellipse">
            <a:avLst/>
          </a:prstGeom>
          <a:solidFill>
            <a:srgbClr val="CDDE00"/>
          </a:solidFill>
          <a:ln w="19050">
            <a:solidFill>
              <a:srgbClr val="CDDE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5220950" y="5311229"/>
            <a:ext cx="381000" cy="381000"/>
          </a:xfrm>
          <a:prstGeom prst="ellipse">
            <a:avLst/>
          </a:prstGeom>
          <a:solidFill>
            <a:srgbClr val="CDDE00"/>
          </a:solidFill>
          <a:ln w="19050">
            <a:solidFill>
              <a:srgbClr val="CDDE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5735300" y="5311229"/>
            <a:ext cx="381000" cy="381000"/>
          </a:xfrm>
          <a:prstGeom prst="ellipse">
            <a:avLst/>
          </a:prstGeom>
          <a:solidFill>
            <a:srgbClr val="CDDE00"/>
          </a:solidFill>
          <a:ln w="19050">
            <a:solidFill>
              <a:srgbClr val="CDDE0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6249650" y="5311229"/>
            <a:ext cx="381000" cy="381000"/>
          </a:xfrm>
          <a:prstGeom prst="ellipse">
            <a:avLst/>
          </a:prstGeom>
          <a:solidFill>
            <a:srgbClr val="CDDE00"/>
          </a:solidFill>
          <a:ln w="19050">
            <a:solidFill>
              <a:srgbClr val="CDDE0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6764000" y="5311229"/>
            <a:ext cx="381000" cy="381000"/>
          </a:xfrm>
          <a:prstGeom prst="ellipse">
            <a:avLst/>
          </a:prstGeom>
          <a:ln w="19050">
            <a:solidFill>
              <a:srgbClr val="FFFFFF">
                <a:alpha val="35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995791" y="5997029"/>
            <a:ext cx="6082665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Largest reported gain. Both +2 movers attributed the shift directly to the game's hesitancy-identification framework and clinical data content.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6770697" y="9563100"/>
            <a:ext cx="4505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4381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 · 02 OF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232559" y="533400"/>
            <a:ext cx="19886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51515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RECEPTIVITY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449562"/>
            <a:ext cx="77504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02 · RECEPTIVITY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3021062"/>
            <a:ext cx="775692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396" kern="0" dirty="0">
                <a:solidFill>
                  <a:srgbClr val="081F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2013942" y="3535412"/>
            <a:ext cx="2414439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42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11 HCPs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1143000" y="4482554"/>
            <a:ext cx="762000" cy="3810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901654"/>
            <a:ext cx="7063740" cy="1521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spc="-1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Rated their hesitation to engage with game-based medical learning at 3 out of 7 or below.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43000" y="6689675"/>
            <a:ext cx="706374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dominant attitude in this group was openness, not resistance — format adoption is not a barrier, it is an opportunity waiting to be activated.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001250" y="2339429"/>
            <a:ext cx="73580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C4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HESITATION · 1 = NONE, 7 = TOTAL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01250" y="6061918"/>
            <a:ext cx="510778" cy="50661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0664428" y="6061918"/>
            <a:ext cx="510927" cy="50661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1327755" y="5555159"/>
            <a:ext cx="510927" cy="101337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1991082" y="5555159"/>
            <a:ext cx="510778" cy="101337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2654260" y="5555159"/>
            <a:ext cx="510927" cy="101337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3317587" y="5555159"/>
            <a:ext cx="510927" cy="101337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3980914" y="5048399"/>
            <a:ext cx="510927" cy="152013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8" name="Shape 16"/>
          <p:cNvSpPr/>
          <p:nvPr/>
        </p:nvSpPr>
        <p:spPr>
          <a:xfrm>
            <a:off x="14644241" y="5048399"/>
            <a:ext cx="510778" cy="152013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9" name="Shape 17"/>
          <p:cNvSpPr/>
          <p:nvPr/>
        </p:nvSpPr>
        <p:spPr>
          <a:xfrm>
            <a:off x="15307419" y="5048399"/>
            <a:ext cx="510927" cy="152013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20" name="Shape 18"/>
          <p:cNvSpPr/>
          <p:nvPr/>
        </p:nvSpPr>
        <p:spPr>
          <a:xfrm>
            <a:off x="15970746" y="4034879"/>
            <a:ext cx="510927" cy="2533650"/>
          </a:xfrm>
          <a:prstGeom prst="rect">
            <a:avLst/>
          </a:prstGeom>
          <a:solidFill>
            <a:srgbClr val="081F2B">
              <a:alpha val="35000"/>
            </a:srgbClr>
          </a:solidFill>
          <a:ln/>
        </p:spPr>
      </p:sp>
      <p:sp>
        <p:nvSpPr>
          <p:cNvPr id="21" name="Shape 19"/>
          <p:cNvSpPr/>
          <p:nvPr/>
        </p:nvSpPr>
        <p:spPr>
          <a:xfrm>
            <a:off x="16634073" y="3528268"/>
            <a:ext cx="510927" cy="3040261"/>
          </a:xfrm>
          <a:prstGeom prst="rect">
            <a:avLst/>
          </a:prstGeom>
          <a:solidFill>
            <a:srgbClr val="081F2B">
              <a:alpha val="35000"/>
            </a:srgbClr>
          </a:solidFill>
          <a:ln/>
        </p:spPr>
      </p:sp>
      <p:sp>
        <p:nvSpPr>
          <p:cNvPr id="22" name="Text 20"/>
          <p:cNvSpPr/>
          <p:nvPr/>
        </p:nvSpPr>
        <p:spPr>
          <a:xfrm>
            <a:off x="9963150" y="6701879"/>
            <a:ext cx="5869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0626328" y="6701879"/>
            <a:ext cx="5871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1289655" y="6701879"/>
            <a:ext cx="5871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1952982" y="6701879"/>
            <a:ext cx="5869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2616160" y="6701879"/>
            <a:ext cx="5871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3279487" y="6701879"/>
            <a:ext cx="5871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13942814" y="6701879"/>
            <a:ext cx="5871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29" name="Text 27"/>
          <p:cNvSpPr/>
          <p:nvPr/>
        </p:nvSpPr>
        <p:spPr>
          <a:xfrm>
            <a:off x="14606141" y="6701879"/>
            <a:ext cx="586978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15269319" y="6701879"/>
            <a:ext cx="5871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15932646" y="6701879"/>
            <a:ext cx="5871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16595973" y="6701879"/>
            <a:ext cx="587127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10001250" y="7402860"/>
            <a:ext cx="6082665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Eleven HCPs, plotted by self-reported hesitation rating. The nine HCPs at or below 3/7 are shown in burnt orange.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16791087" y="9563100"/>
            <a:ext cx="43011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0A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438862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 · 03 OF 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362337" y="533400"/>
            <a:ext cx="18588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7C3C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ENJOYMENT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995190"/>
            <a:ext cx="77504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03 · ENJOYMENT OF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2566690"/>
            <a:ext cx="2532162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396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8–10</a:t>
            </a:r>
            <a:endParaRPr lang="en-US" sz="9900" dirty="0"/>
          </a:p>
        </p:txBody>
      </p:sp>
      <p:sp>
        <p:nvSpPr>
          <p:cNvPr id="7" name="Text 5"/>
          <p:cNvSpPr/>
          <p:nvPr/>
        </p:nvSpPr>
        <p:spPr>
          <a:xfrm>
            <a:off x="3770412" y="3081040"/>
            <a:ext cx="75768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42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143000" y="4028182"/>
            <a:ext cx="762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447282"/>
            <a:ext cx="7063740" cy="20157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spc="-1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Enjoyment scores across </a:t>
            </a:r>
            <a:pPr algn="l" indent="0" marL="0">
              <a:lnSpc>
                <a:spcPct val="118000"/>
              </a:lnSpc>
              <a:buNone/>
            </a:pPr>
            <a:r>
              <a:rPr lang="en-US" sz="3300" spc="-1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participant who completed </a:t>
            </a:r>
            <a:pPr algn="l" indent="0" marL="0">
              <a:lnSpc>
                <a:spcPct val="118000"/>
              </a:lnSpc>
              <a:buNone/>
            </a:pPr>
            <a:r>
              <a:rPr lang="en-US" sz="3300" spc="-1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clinical data module — COVID mortality, hospitalization, adverse event rates.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143000" y="6729710"/>
            <a:ext cx="706374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spc="6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enjoyment of the data module is a signal of learning engagement, not entertainment. Participants cited the precision of the data and its immediate applicability in patient conversation.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20250" y="3125242"/>
            <a:ext cx="9525" cy="4131766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10775" y="3125242"/>
            <a:ext cx="73482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SCORED HIGH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10775" y="3696742"/>
            <a:ext cx="7134225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10010775" y="3934867"/>
            <a:ext cx="73482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Precision of the data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010775" y="4411117"/>
            <a:ext cx="734825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numbers HCPs could cite — not general reassurance.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10775" y="4959697"/>
            <a:ext cx="7134225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10010775" y="5197822"/>
            <a:ext cx="73482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Immediate applicability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010775" y="5674072"/>
            <a:ext cx="734825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Talking points HCPs intended to use that week, in that practice.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10775" y="6222653"/>
            <a:ext cx="7134225" cy="9525"/>
          </a:xfrm>
          <a:prstGeom prst="rect">
            <a:avLst/>
          </a:prstGeom>
          <a:solidFill>
            <a:srgbClr val="FFFFFF">
              <a:alpha val="1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10010775" y="6460778"/>
            <a:ext cx="734825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Surprise at the numbers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010775" y="6937028"/>
            <a:ext cx="734825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Genuine new learning — adverse event rates were lower than assumed.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773823" y="9563100"/>
            <a:ext cx="44737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43923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 · 04 OF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803934" y="533400"/>
            <a:ext cx="241726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51515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2242393"/>
            <a:ext cx="77504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04 · LEARNING EFFECTIVENESS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813893"/>
            <a:ext cx="2020193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396" kern="0" dirty="0">
                <a:solidFill>
                  <a:srgbClr val="081F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6–7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3258443" y="3328243"/>
            <a:ext cx="503188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42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/7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24375" y="4275386"/>
            <a:ext cx="762000" cy="3810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694486"/>
            <a:ext cx="7063740" cy="1521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spc="-1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Self-rated learning effectiveness from HCPs who completed the game experience.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43000" y="6482507"/>
            <a:ext cx="706374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cited the combination of hesitancy-type identification training and data-driven talking points as the source of this effectiveness. Multiple described the experience as "not just fun — actually informative."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001250" y="3600450"/>
            <a:ext cx="73580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C4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EFFECTIVENESS RATING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01250" y="4248150"/>
            <a:ext cx="381000" cy="381000"/>
          </a:xfrm>
          <a:prstGeom prst="ellipse">
            <a:avLst/>
          </a:prstGeom>
          <a:ln w="19050">
            <a:solidFill>
              <a:srgbClr val="081F2B">
                <a:alpha val="2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591800" y="4248150"/>
            <a:ext cx="381000" cy="381000"/>
          </a:xfrm>
          <a:prstGeom prst="ellipse">
            <a:avLst/>
          </a:prstGeom>
          <a:ln w="19050">
            <a:solidFill>
              <a:srgbClr val="081F2B">
                <a:alpha val="2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1182350" y="4248150"/>
            <a:ext cx="381000" cy="381000"/>
          </a:xfrm>
          <a:prstGeom prst="ellipse">
            <a:avLst/>
          </a:prstGeom>
          <a:ln w="19050">
            <a:solidFill>
              <a:srgbClr val="081F2B">
                <a:alpha val="2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1772900" y="4248150"/>
            <a:ext cx="381000" cy="381000"/>
          </a:xfrm>
          <a:prstGeom prst="ellipse">
            <a:avLst/>
          </a:prstGeom>
          <a:ln w="19050">
            <a:solidFill>
              <a:srgbClr val="081F2B">
                <a:alpha val="2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2363450" y="4248150"/>
            <a:ext cx="381000" cy="381000"/>
          </a:xfrm>
          <a:prstGeom prst="ellipse">
            <a:avLst/>
          </a:prstGeom>
          <a:ln w="19050">
            <a:solidFill>
              <a:srgbClr val="081F2B">
                <a:alpha val="2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2954000" y="4248150"/>
            <a:ext cx="533400" cy="533400"/>
          </a:xfrm>
          <a:prstGeom prst="ellipse">
            <a:avLst/>
          </a:prstGeom>
          <a:solidFill>
            <a:srgbClr val="BC4700"/>
          </a:solidFill>
          <a:ln w="19050">
            <a:solidFill>
              <a:srgbClr val="BC470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696950" y="4248150"/>
            <a:ext cx="533400" cy="533400"/>
          </a:xfrm>
          <a:prstGeom prst="ellipse">
            <a:avLst/>
          </a:prstGeom>
          <a:solidFill>
            <a:srgbClr val="BC4700"/>
          </a:solidFill>
          <a:ln w="19050">
            <a:solidFill>
              <a:srgbClr val="BC4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001250" y="4953000"/>
            <a:ext cx="1600646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Not effective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3323391" y="4953000"/>
            <a:ext cx="189755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· Highly effective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10001250" y="5882580"/>
            <a:ext cx="38100" cy="89907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21" name="Text 19"/>
          <p:cNvSpPr/>
          <p:nvPr/>
        </p:nvSpPr>
        <p:spPr>
          <a:xfrm>
            <a:off x="10306050" y="5882580"/>
            <a:ext cx="6082665" cy="4647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40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"Not just fun — </a:t>
            </a:r>
            <a:pPr algn="l" indent="0" marL="0">
              <a:lnSpc>
                <a:spcPct val="140000"/>
              </a:lnSpc>
              <a:buNone/>
            </a:pPr>
            <a:r>
              <a:rPr lang="en-US" sz="2400" spc="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actually informative.</a:t>
            </a:r>
            <a:pPr algn="l" indent="0" marL="0">
              <a:lnSpc>
                <a:spcPct val="140000"/>
              </a:lnSpc>
              <a:buNone/>
            </a:pPr>
            <a:r>
              <a:rPr lang="en-US" sz="240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10306050" y="6461671"/>
            <a:ext cx="7044119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medicine physician, recently in practice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16770697" y="9563100"/>
            <a:ext cx="45050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</a:t>
            </a:r>
            <a:endParaRPr lang="en-US" sz="1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0A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43869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 · 05 OF 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261729" y="533400"/>
            <a:ext cx="19594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7C3C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449562"/>
            <a:ext cx="77504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05 · LIKELIHOOD TO RECOMMEND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021062"/>
            <a:ext cx="1446163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396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9+</a:t>
            </a:r>
            <a:endParaRPr lang="en-US" sz="9900" dirty="0"/>
          </a:p>
        </p:txBody>
      </p:sp>
      <p:sp>
        <p:nvSpPr>
          <p:cNvPr id="7" name="Text 5"/>
          <p:cNvSpPr/>
          <p:nvPr/>
        </p:nvSpPr>
        <p:spPr>
          <a:xfrm>
            <a:off x="2684413" y="3535412"/>
            <a:ext cx="2600920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42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/10 average</a:t>
            </a:r>
            <a:endParaRPr lang="en-US" sz="4200" dirty="0"/>
          </a:p>
        </p:txBody>
      </p:sp>
      <p:sp>
        <p:nvSpPr>
          <p:cNvPr id="8" name="Shape 6"/>
          <p:cNvSpPr/>
          <p:nvPr/>
        </p:nvSpPr>
        <p:spPr>
          <a:xfrm>
            <a:off x="1143000" y="4482554"/>
            <a:ext cx="762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9" name="Text 7"/>
          <p:cNvSpPr/>
          <p:nvPr/>
        </p:nvSpPr>
        <p:spPr>
          <a:xfrm>
            <a:off x="1143000" y="4901654"/>
            <a:ext cx="7063740" cy="152132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spc="-1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HCPs who found the game relevant to their practice — recommendation scores ranged </a:t>
            </a:r>
            <a:pPr algn="l" indent="0" marL="0">
              <a:lnSpc>
                <a:spcPct val="118000"/>
              </a:lnSpc>
              <a:buNone/>
            </a:pPr>
            <a:r>
              <a:rPr lang="en-US" sz="3300" spc="-1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to 10.</a:t>
            </a:r>
            <a:endParaRPr lang="en-US" sz="3300" dirty="0"/>
          </a:p>
        </p:txBody>
      </p:sp>
      <p:sp>
        <p:nvSpPr>
          <p:cNvPr id="10" name="Text 8"/>
          <p:cNvSpPr/>
          <p:nvPr/>
        </p:nvSpPr>
        <p:spPr>
          <a:xfrm>
            <a:off x="1143000" y="6689675"/>
            <a:ext cx="706374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spc="6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peer-advocacy intent was consistently linked to the game's clinical realism and the practical value of having precise, retrievable statistics for patient conversations.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620250" y="3415754"/>
            <a:ext cx="9525" cy="3550741"/>
          </a:xfrm>
          <a:prstGeom prst="rect">
            <a:avLst/>
          </a:prstGeom>
          <a:solidFill>
            <a:srgbClr val="FFFFFF">
              <a:alpha val="12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10010775" y="3415754"/>
            <a:ext cx="73482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WHERE HCPS WOULD SHARE IT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10010775" y="4025354"/>
            <a:ext cx="457200" cy="457200"/>
          </a:xfrm>
          <a:prstGeom prst="ellipse">
            <a:avLst/>
          </a:prstGeom>
          <a:solidFill>
            <a:srgbClr val="CDDE00"/>
          </a:solidFill>
          <a:ln/>
        </p:spPr>
      </p:sp>
      <p:sp>
        <p:nvSpPr>
          <p:cNvPr id="14" name="Text 12"/>
          <p:cNvSpPr/>
          <p:nvPr/>
        </p:nvSpPr>
        <p:spPr>
          <a:xfrm>
            <a:off x="10696575" y="4025354"/>
            <a:ext cx="537399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Early-career colleagues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696575" y="4482554"/>
            <a:ext cx="53739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Navigating their first years of hesitancy conversation.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0010775" y="5107335"/>
            <a:ext cx="457200" cy="457200"/>
          </a:xfrm>
          <a:prstGeom prst="ellipse">
            <a:avLst/>
          </a:prstGeom>
          <a:solidFill>
            <a:srgbClr val="CDDE00"/>
          </a:solidFill>
          <a:ln/>
        </p:spPr>
      </p:sp>
      <p:sp>
        <p:nvSpPr>
          <p:cNvPr id="17" name="Text 15"/>
          <p:cNvSpPr/>
          <p:nvPr/>
        </p:nvSpPr>
        <p:spPr>
          <a:xfrm>
            <a:off x="10696575" y="5107335"/>
            <a:ext cx="5119832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Residency program orientations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0696575" y="5564535"/>
            <a:ext cx="511983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repeatable training surface for incoming cohorts.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10010775" y="6189315"/>
            <a:ext cx="457200" cy="457200"/>
          </a:xfrm>
          <a:prstGeom prst="ellipse">
            <a:avLst/>
          </a:prstGeom>
          <a:solidFill>
            <a:srgbClr val="CDDE00"/>
          </a:solidFill>
          <a:ln/>
        </p:spPr>
      </p:sp>
      <p:sp>
        <p:nvSpPr>
          <p:cNvPr id="20" name="Text 18"/>
          <p:cNvSpPr/>
          <p:nvPr/>
        </p:nvSpPr>
        <p:spPr>
          <a:xfrm>
            <a:off x="10696575" y="6189315"/>
            <a:ext cx="647586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Multidisciplinary care teams</a:t>
            </a:r>
            <a:endParaRPr lang="en-US" sz="2250" dirty="0"/>
          </a:p>
        </p:txBody>
      </p:sp>
      <p:sp>
        <p:nvSpPr>
          <p:cNvPr id="21" name="Text 19"/>
          <p:cNvSpPr/>
          <p:nvPr/>
        </p:nvSpPr>
        <p:spPr>
          <a:xfrm>
            <a:off x="10696575" y="6646515"/>
            <a:ext cx="6475861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Wherever multiple staff members engage with hesitant patients.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16810286" y="9563100"/>
            <a:ext cx="41091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439399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 · 06 OF 07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6064657" y="533400"/>
            <a:ext cx="115654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51515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955155"/>
            <a:ext cx="775049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06 · FUTURE ENGAGEMENT INTENT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526655"/>
            <a:ext cx="775692" cy="11947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9900" spc="-396" kern="0" dirty="0">
                <a:solidFill>
                  <a:srgbClr val="081F2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6</a:t>
            </a:r>
            <a:endParaRPr lang="en-US" sz="9900" dirty="0"/>
          </a:p>
        </p:txBody>
      </p:sp>
      <p:sp>
        <p:nvSpPr>
          <p:cNvPr id="6" name="Text 4"/>
          <p:cNvSpPr/>
          <p:nvPr/>
        </p:nvSpPr>
        <p:spPr>
          <a:xfrm>
            <a:off x="2013942" y="3041005"/>
            <a:ext cx="2251174" cy="6667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4200" spc="-42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7 HCPs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4524375" y="3988147"/>
            <a:ext cx="762000" cy="3810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4407247"/>
            <a:ext cx="7063740" cy="25101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8000"/>
              </a:lnSpc>
              <a:buNone/>
            </a:pPr>
            <a:r>
              <a:rPr lang="en-US" sz="3300" spc="-1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HCPs who engaged positively with the game, six of seven rated their likelihood to engage with a future game-based learning tool at 6 or 7 out of 7.</a:t>
            </a:r>
            <a:endParaRPr lang="en-US" sz="3300" dirty="0"/>
          </a:p>
        </p:txBody>
      </p:sp>
      <p:sp>
        <p:nvSpPr>
          <p:cNvPr id="9" name="Text 7"/>
          <p:cNvSpPr/>
          <p:nvPr/>
        </p:nvSpPr>
        <p:spPr>
          <a:xfrm>
            <a:off x="1143000" y="7184082"/>
            <a:ext cx="7063740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that intent extended beyond COVID — participants asked for game-based formats across treatments, disease states, and pharmaceuticals in their specialty.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0001250" y="4156174"/>
            <a:ext cx="73580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BC47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FUTURE INTENT — 6 OR 7 / 7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10001250" y="4765774"/>
            <a:ext cx="873621" cy="87362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2" name="Shape 10"/>
          <p:cNvSpPr/>
          <p:nvPr/>
        </p:nvSpPr>
        <p:spPr>
          <a:xfrm>
            <a:off x="11046321" y="4765774"/>
            <a:ext cx="873621" cy="87362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3" name="Shape 11"/>
          <p:cNvSpPr/>
          <p:nvPr/>
        </p:nvSpPr>
        <p:spPr>
          <a:xfrm>
            <a:off x="12091392" y="4765774"/>
            <a:ext cx="873621" cy="87362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4" name="Shape 12"/>
          <p:cNvSpPr/>
          <p:nvPr/>
        </p:nvSpPr>
        <p:spPr>
          <a:xfrm>
            <a:off x="13136463" y="4765774"/>
            <a:ext cx="873621" cy="87362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5" name="Shape 13"/>
          <p:cNvSpPr/>
          <p:nvPr/>
        </p:nvSpPr>
        <p:spPr>
          <a:xfrm>
            <a:off x="14181534" y="4765774"/>
            <a:ext cx="873621" cy="87362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6" name="Shape 14"/>
          <p:cNvSpPr/>
          <p:nvPr/>
        </p:nvSpPr>
        <p:spPr>
          <a:xfrm>
            <a:off x="15226605" y="4765774"/>
            <a:ext cx="873621" cy="873621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7" name="Shape 15"/>
          <p:cNvSpPr/>
          <p:nvPr/>
        </p:nvSpPr>
        <p:spPr>
          <a:xfrm>
            <a:off x="16271677" y="4765774"/>
            <a:ext cx="873621" cy="873621"/>
          </a:xfrm>
          <a:prstGeom prst="rect">
            <a:avLst/>
          </a:prstGeom>
          <a:solidFill>
            <a:srgbClr val="081F2B">
              <a:alpha val="14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0001250" y="5906095"/>
            <a:ext cx="7358063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square represents one HCP from the engaged cohort.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847641" y="9563100"/>
            <a:ext cx="3735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0A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43722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THE NUMBERS · 07 OF 07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124384" y="533400"/>
            <a:ext cx="311123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7C3C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 DEMAND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2990850"/>
            <a:ext cx="637698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METRIC 07 · CROSS-TA DEMAND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3562350"/>
            <a:ext cx="6376988" cy="197628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800" spc="-58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Near-universal interest </a:t>
            </a:r>
            <a:pPr algn="l" indent="0" marL="0">
              <a:lnSpc>
                <a:spcPct val="106000"/>
              </a:lnSpc>
              <a:buNone/>
            </a:pPr>
            <a:r>
              <a:rPr lang="en-US" sz="4800" spc="-58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 the format </a:t>
            </a:r>
            <a:pPr algn="l" indent="0" marL="0">
              <a:lnSpc>
                <a:spcPct val="106000"/>
              </a:lnSpc>
              <a:buNone/>
            </a:pPr>
            <a:r>
              <a:rPr lang="en-US" sz="4800" spc="-58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— not just this game.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1143000" y="5805339"/>
            <a:ext cx="762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6148239"/>
            <a:ext cx="5297805" cy="128111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250" spc="6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asked which other clinical topics they would want in a game-based format, HCPs answered consistently and broadly.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8477250" y="3242221"/>
            <a:ext cx="86677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8477250" y="3537496"/>
            <a:ext cx="2552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1258550" y="3604171"/>
            <a:ext cx="4248150" cy="2667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258550" y="3604171"/>
            <a:ext cx="3861643" cy="2667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13" name="Text 11"/>
          <p:cNvSpPr/>
          <p:nvPr/>
        </p:nvSpPr>
        <p:spPr>
          <a:xfrm>
            <a:off x="15735300" y="3537496"/>
            <a:ext cx="1409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11</a:t>
            </a:r>
            <a:endParaRPr lang="en-US" sz="2250" dirty="0"/>
          </a:p>
        </p:txBody>
      </p:sp>
      <p:sp>
        <p:nvSpPr>
          <p:cNvPr id="14" name="Shape 12"/>
          <p:cNvSpPr/>
          <p:nvPr/>
        </p:nvSpPr>
        <p:spPr>
          <a:xfrm>
            <a:off x="8477250" y="4223296"/>
            <a:ext cx="86677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8477250" y="4518571"/>
            <a:ext cx="2552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states</a:t>
            </a:r>
            <a:endParaRPr lang="en-US" sz="2250" dirty="0"/>
          </a:p>
        </p:txBody>
      </p:sp>
      <p:sp>
        <p:nvSpPr>
          <p:cNvPr id="16" name="Shape 14"/>
          <p:cNvSpPr/>
          <p:nvPr/>
        </p:nvSpPr>
        <p:spPr>
          <a:xfrm>
            <a:off x="11258550" y="4585246"/>
            <a:ext cx="4248150" cy="2667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11258550" y="4585246"/>
            <a:ext cx="3088481" cy="266700"/>
          </a:xfrm>
          <a:prstGeom prst="rect">
            <a:avLst/>
          </a:prstGeom>
          <a:solidFill>
            <a:srgbClr val="CDDE00">
              <a:alpha val="78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15735300" y="4518571"/>
            <a:ext cx="1409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11</a:t>
            </a:r>
            <a:endParaRPr lang="en-US" sz="2250" dirty="0"/>
          </a:p>
        </p:txBody>
      </p:sp>
      <p:sp>
        <p:nvSpPr>
          <p:cNvPr id="19" name="Shape 17"/>
          <p:cNvSpPr/>
          <p:nvPr/>
        </p:nvSpPr>
        <p:spPr>
          <a:xfrm>
            <a:off x="8477250" y="6185446"/>
            <a:ext cx="86677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8477250" y="5204371"/>
            <a:ext cx="8667750" cy="9525"/>
          </a:xfrm>
          <a:prstGeom prst="rect">
            <a:avLst/>
          </a:prstGeom>
          <a:solidFill>
            <a:srgbClr val="FFFFFF">
              <a:alpha val="16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8477250" y="5499646"/>
            <a:ext cx="2552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Pharmaceuticals</a:t>
            </a:r>
            <a:endParaRPr lang="en-US" sz="2250" dirty="0"/>
          </a:p>
        </p:txBody>
      </p:sp>
      <p:sp>
        <p:nvSpPr>
          <p:cNvPr id="22" name="Shape 20"/>
          <p:cNvSpPr/>
          <p:nvPr/>
        </p:nvSpPr>
        <p:spPr>
          <a:xfrm>
            <a:off x="11258550" y="5566321"/>
            <a:ext cx="4248150" cy="266700"/>
          </a:xfrm>
          <a:prstGeom prst="rect">
            <a:avLst/>
          </a:prstGeom>
          <a:solidFill>
            <a:srgbClr val="FFFFFF">
              <a:alpha val="8000"/>
            </a:srgbClr>
          </a:solidFill>
          <a:ln/>
        </p:spPr>
      </p:sp>
      <p:sp>
        <p:nvSpPr>
          <p:cNvPr id="23" name="Shape 21"/>
          <p:cNvSpPr/>
          <p:nvPr/>
        </p:nvSpPr>
        <p:spPr>
          <a:xfrm>
            <a:off x="11258550" y="5566321"/>
            <a:ext cx="2701826" cy="266700"/>
          </a:xfrm>
          <a:prstGeom prst="rect">
            <a:avLst/>
          </a:prstGeom>
          <a:solidFill>
            <a:srgbClr val="CDDE00">
              <a:alpha val="60000"/>
            </a:srgbClr>
          </a:solidFill>
          <a:ln/>
        </p:spPr>
      </p:sp>
      <p:sp>
        <p:nvSpPr>
          <p:cNvPr id="24" name="Text 22"/>
          <p:cNvSpPr/>
          <p:nvPr/>
        </p:nvSpPr>
        <p:spPr>
          <a:xfrm>
            <a:off x="15735300" y="5499646"/>
            <a:ext cx="140970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r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11</a:t>
            </a:r>
            <a:endParaRPr lang="en-US" sz="2250" dirty="0"/>
          </a:p>
        </p:txBody>
      </p:sp>
      <p:sp>
        <p:nvSpPr>
          <p:cNvPr id="25" name="Text 23"/>
          <p:cNvSpPr/>
          <p:nvPr/>
        </p:nvSpPr>
        <p:spPr>
          <a:xfrm>
            <a:off x="8477250" y="6499771"/>
            <a:ext cx="8927783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HCPs who selected each topic as a desired game-based learning area. Multiple selections permitted.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6818918" y="9563100"/>
            <a:ext cx="4022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61824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2135981"/>
            <a:ext cx="29859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THREE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05000" y="2936081"/>
            <a:ext cx="2629588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spc="-720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03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1905000" y="5222081"/>
            <a:ext cx="10117489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0" spc="-15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the research shows.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1905000" y="6795492"/>
            <a:ext cx="1524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7" name="Text 5"/>
          <p:cNvSpPr/>
          <p:nvPr/>
        </p:nvSpPr>
        <p:spPr>
          <a:xfrm>
            <a:off x="1905000" y="7290792"/>
            <a:ext cx="10791825" cy="993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850" spc="6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Five findings from eleven moderated sessions — the why behind the numbers.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43000" y="9563100"/>
            <a:ext cx="26889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813113" y="9563100"/>
            <a:ext cx="40808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</a:t>
            </a:r>
            <a:endParaRPr lang="en-US" sz="1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46820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· FINDING 01 OF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3362236" y="533400"/>
            <a:ext cx="38962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51515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CONVERSATIONAL SKILLS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7287854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44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2506861"/>
            <a:ext cx="762000" cy="3810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49761"/>
            <a:ext cx="7287854" cy="2461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spc="-54" kern="0" dirty="0">
                <a:solidFill>
                  <a:srgbClr val="0A16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 game builds the conversational skill HCPs need most: </a:t>
            </a:r>
            <a:pPr algn="l" indent="0" marL="0">
              <a:lnSpc>
                <a:spcPct val="106000"/>
              </a:lnSpc>
              <a:buNone/>
            </a:pPr>
            <a:r>
              <a:rPr lang="en-US" sz="4500" spc="-54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identifying why.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361587" y="1333500"/>
            <a:ext cx="8016916" cy="842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Before choosing a response, HCPs need to know </a:t>
            </a:r>
            <a:pPr algn="l" indent="0" marL="0">
              <a:lnSpc>
                <a:spcPct val="132000"/>
              </a:lnSpc>
              <a:buNone/>
            </a:pPr>
            <a:r>
              <a:rPr lang="en-US" sz="2400" spc="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</a:t>
            </a:r>
            <a:pPr algn="l" indent="0" marL="0">
              <a:lnSpc>
                <a:spcPct val="132000"/>
              </a:lnSpc>
              <a:buNone/>
            </a:pPr>
            <a:r>
              <a:rPr lang="en-US" sz="240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hesitancy they're dealing with.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361587" y="2442865"/>
            <a:ext cx="8016916" cy="1638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concern-identification framework — mapping patient statements to categories like adverse-event fear, public-figure distrust, and social media misinformation — was described as immediately transferable to real patient conversations.</a:t>
            </a:r>
            <a:endParaRPr lang="en-US" sz="2250" dirty="0"/>
          </a:p>
        </p:txBody>
      </p:sp>
      <p:sp>
        <p:nvSpPr>
          <p:cNvPr id="9" name="Text 7"/>
          <p:cNvSpPr/>
          <p:nvPr/>
        </p:nvSpPr>
        <p:spPr>
          <a:xfrm>
            <a:off x="9361587" y="4347865"/>
            <a:ext cx="801691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HCPs with lower baseline confidence reported the clearest gains. Those gains were explicitly attributed to the framework, with the statistical data backing it up.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361587" y="5700415"/>
            <a:ext cx="7783413" cy="2080022"/>
          </a:xfrm>
          <a:prstGeom prst="rect">
            <a:avLst/>
          </a:prstGeom>
          <a:solidFill>
            <a:srgbClr val="BC4700">
              <a:alpha val="8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361587" y="5700415"/>
            <a:ext cx="38100" cy="2080022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2" name="Text 10"/>
          <p:cNvSpPr/>
          <p:nvPr/>
        </p:nvSpPr>
        <p:spPr>
          <a:xfrm>
            <a:off x="9704487" y="5967115"/>
            <a:ext cx="7349785" cy="15847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i="1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family medicine physician described going from a confidence score of 4 to 6 specifically for challenging pediatric vaccine conversations — attributing the gain to what she learned in the game's data and dialogue modules.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809988" y="9563100"/>
            <a:ext cx="4112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</a:t>
            </a:r>
            <a:endParaRPr lang="en-US" sz="1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0A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471145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· FINDING 02 OF 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024521" y="533400"/>
            <a:ext cx="321409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7C3C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POINT OF CARE DATA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333500"/>
            <a:ext cx="7287854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4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143000" y="2506861"/>
            <a:ext cx="762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849761"/>
            <a:ext cx="7287854" cy="1855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spc="-54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Clinical data HCPs will actually use </a:t>
            </a:r>
            <a:pPr algn="l" indent="0" marL="0">
              <a:lnSpc>
                <a:spcPct val="106000"/>
              </a:lnSpc>
              <a:buNone/>
            </a:pPr>
            <a:r>
              <a:rPr lang="en-US" sz="4500" spc="-54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at the point of care.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9361587" y="1333500"/>
            <a:ext cx="8016916" cy="1244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COVID hospitalization, mortality, and adverse-event rates by age group — the most consistently valued element across participant types.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61587" y="2845147"/>
            <a:ext cx="8016916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HCPs knew these conversations required evidence, but few had precise, retrievable numbers. The game closes that gap.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61587" y="3873847"/>
            <a:ext cx="2289572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92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7/7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9361587" y="4548932"/>
            <a:ext cx="2289572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effectiveness ratings driven by the statistical layer.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46459" y="3873847"/>
            <a:ext cx="2289721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92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10/10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12146459" y="4548932"/>
            <a:ext cx="2289721" cy="195798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Enjoyment of data modules — among physicians who described journal articles as putting them to sleep.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4931479" y="3873847"/>
            <a:ext cx="2289721" cy="59888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4800" spc="-192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→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14931479" y="4548932"/>
            <a:ext cx="2289721" cy="1318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HCP planned to keep the key statistics on a card in her coat pocket.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814899" y="9563100"/>
            <a:ext cx="4063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47189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· FINDING 03 OF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232559" y="533400"/>
            <a:ext cx="198864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51515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RECEPTIVITY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7287854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44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2506861"/>
            <a:ext cx="762000" cy="3810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49761"/>
            <a:ext cx="7287854" cy="1855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spc="-54" kern="0" dirty="0">
                <a:solidFill>
                  <a:srgbClr val="0A16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HCPs are receptive — </a:t>
            </a:r>
            <a:pPr algn="l" indent="0" marL="0">
              <a:lnSpc>
                <a:spcPct val="106000"/>
              </a:lnSpc>
              <a:buNone/>
            </a:pPr>
            <a:r>
              <a:rPr lang="en-US" sz="4500" spc="-54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across experience levels and specialties.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361587" y="1333500"/>
            <a:ext cx="8016916" cy="842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Physicians, PAs, family medicine, internal medicine, urgent care, early- and senior-career — the same answer.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361587" y="2442865"/>
            <a:ext cx="801691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Clinicians who grew up on video games described the format as a natural fit. Clinicians who did not described it as a welcome relief from journal articles and compliance modules.</a:t>
            </a:r>
            <a:endParaRPr lang="en-US" sz="2250" dirty="0"/>
          </a:p>
        </p:txBody>
      </p:sp>
      <p:sp>
        <p:nvSpPr>
          <p:cNvPr id="9" name="Shape 7"/>
          <p:cNvSpPr/>
          <p:nvPr/>
        </p:nvSpPr>
        <p:spPr>
          <a:xfrm>
            <a:off x="9361587" y="3795415"/>
            <a:ext cx="7783413" cy="2232422"/>
          </a:xfrm>
          <a:prstGeom prst="rect">
            <a:avLst/>
          </a:prstGeom>
          <a:solidFill>
            <a:srgbClr val="BC4700">
              <a:alpha val="8000"/>
            </a:srgbClr>
          </a:solidFill>
          <a:ln/>
        </p:spPr>
      </p:sp>
      <p:sp>
        <p:nvSpPr>
          <p:cNvPr id="10" name="Shape 8"/>
          <p:cNvSpPr/>
          <p:nvPr/>
        </p:nvSpPr>
        <p:spPr>
          <a:xfrm>
            <a:off x="9361587" y="3795415"/>
            <a:ext cx="38100" cy="2232422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1" name="Text 9"/>
          <p:cNvSpPr/>
          <p:nvPr/>
        </p:nvSpPr>
        <p:spPr>
          <a:xfrm>
            <a:off x="9704487" y="4090690"/>
            <a:ext cx="6927616" cy="739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i="1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physician assistant with 10 years in urgent care rated her hesitation at 1 out of 7 and described her experience as: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704487" y="4987826"/>
            <a:ext cx="7349785" cy="8114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100" spc="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"This is like a real conversation. This is exactly what happens."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6808053" y="9563100"/>
            <a:ext cx="4131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0A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4722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· FINDING 04 OF 05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696926" y="533400"/>
            <a:ext cx="252427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7C3C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PEER ADVOCACY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333500"/>
            <a:ext cx="7287854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44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7200" dirty="0"/>
          </a:p>
        </p:txBody>
      </p:sp>
      <p:sp>
        <p:nvSpPr>
          <p:cNvPr id="6" name="Shape 4"/>
          <p:cNvSpPr/>
          <p:nvPr/>
        </p:nvSpPr>
        <p:spPr>
          <a:xfrm>
            <a:off x="1143000" y="2506861"/>
            <a:ext cx="762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2849761"/>
            <a:ext cx="7287854" cy="185529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spc="-54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High recommendation intent </a:t>
            </a:r>
            <a:pPr algn="l" indent="0" marL="0">
              <a:lnSpc>
                <a:spcPct val="106000"/>
              </a:lnSpc>
              <a:buNone/>
            </a:pPr>
            <a:r>
              <a:rPr lang="en-US" sz="4500" spc="-54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becomes a distribution channel.</a:t>
            </a:r>
            <a:endParaRPr lang="en-US" sz="4500" dirty="0"/>
          </a:p>
        </p:txBody>
      </p:sp>
      <p:sp>
        <p:nvSpPr>
          <p:cNvPr id="8" name="Text 6"/>
          <p:cNvSpPr/>
          <p:nvPr/>
        </p:nvSpPr>
        <p:spPr>
          <a:xfrm>
            <a:off x="9361587" y="1333500"/>
            <a:ext cx="8016916" cy="84266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Among relevant-fit HCPs, recommendation scores averaged above 9 out of 10 — not passive endorsements.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361587" y="2442865"/>
            <a:ext cx="801691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Participants named specific peer contexts where they would share the game: with early-career colleagues, in residency orientations, across multidisciplinary care teams.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9361587" y="3947815"/>
            <a:ext cx="8016916" cy="1238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7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HCP who recommends a learning tool to colleagues is a trusted distribution channel — far more credible than a pharma email or a website banner.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6823978" y="9563100"/>
            <a:ext cx="39722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</a:t>
            </a:r>
            <a:endParaRPr lang="en-US" sz="18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471728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· FINDING 05 OF 05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259050" y="533400"/>
            <a:ext cx="19621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51515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FORMAT GAP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7287854" cy="9066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5000"/>
              </a:lnSpc>
              <a:buNone/>
            </a:pPr>
            <a:r>
              <a:rPr lang="en-US" sz="7200" spc="-144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7200" dirty="0"/>
          </a:p>
        </p:txBody>
      </p:sp>
      <p:sp>
        <p:nvSpPr>
          <p:cNvPr id="5" name="Shape 3"/>
          <p:cNvSpPr/>
          <p:nvPr/>
        </p:nvSpPr>
        <p:spPr>
          <a:xfrm>
            <a:off x="1143000" y="2506861"/>
            <a:ext cx="762000" cy="3810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49761"/>
            <a:ext cx="7287854" cy="246102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4500" spc="-54" kern="0" dirty="0">
                <a:solidFill>
                  <a:srgbClr val="0A16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Game-based learning addresses </a:t>
            </a:r>
            <a:pPr algn="l" indent="0" marL="0">
              <a:lnSpc>
                <a:spcPct val="106000"/>
              </a:lnSpc>
              <a:buNone/>
            </a:pPr>
            <a:r>
              <a:rPr lang="en-US" sz="4500" spc="-54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format gap traditional CME has left open.</a:t>
            </a:r>
            <a:endParaRPr lang="en-US" sz="4500" dirty="0"/>
          </a:p>
        </p:txBody>
      </p:sp>
      <p:sp>
        <p:nvSpPr>
          <p:cNvPr id="7" name="Text 5"/>
          <p:cNvSpPr/>
          <p:nvPr/>
        </p:nvSpPr>
        <p:spPr>
          <a:xfrm>
            <a:off x="9361587" y="1333500"/>
            <a:ext cx="8016916" cy="12449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40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Existing tools are informative but not engaging — or engaging but not informative. The game occupies the position neither delivers.</a:t>
            </a:r>
            <a:endParaRPr lang="en-US" sz="2400" dirty="0"/>
          </a:p>
        </p:txBody>
      </p:sp>
      <p:sp>
        <p:nvSpPr>
          <p:cNvPr id="8" name="Shape 6"/>
          <p:cNvSpPr/>
          <p:nvPr/>
        </p:nvSpPr>
        <p:spPr>
          <a:xfrm>
            <a:off x="9361587" y="2616547"/>
            <a:ext cx="3758357" cy="3314700"/>
          </a:xfrm>
          <a:prstGeom prst="rect">
            <a:avLst/>
          </a:prstGeom>
          <a:solidFill>
            <a:srgbClr val="EAE7DE"/>
          </a:solidFill>
          <a:ln/>
        </p:spPr>
      </p:sp>
      <p:sp>
        <p:nvSpPr>
          <p:cNvPr id="9" name="Text 7"/>
          <p:cNvSpPr/>
          <p:nvPr/>
        </p:nvSpPr>
        <p:spPr>
          <a:xfrm>
            <a:off x="9628287" y="2883247"/>
            <a:ext cx="33217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15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FORMATS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428262" y="3321397"/>
            <a:ext cx="3501182" cy="2381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Journal articles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CDC fact sheets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Webinars (charted-through)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Static PDF modules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13386643" y="2616547"/>
            <a:ext cx="3758357" cy="3314700"/>
          </a:xfrm>
          <a:prstGeom prst="rect">
            <a:avLst/>
          </a:prstGeom>
          <a:solidFill>
            <a:srgbClr val="081F2B"/>
          </a:solidFill>
          <a:ln/>
        </p:spPr>
      </p:sp>
      <p:sp>
        <p:nvSpPr>
          <p:cNvPr id="12" name="Text 10"/>
          <p:cNvSpPr/>
          <p:nvPr/>
        </p:nvSpPr>
        <p:spPr>
          <a:xfrm>
            <a:off x="13653343" y="2883247"/>
            <a:ext cx="332170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DISCUSSIONS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3453318" y="3321397"/>
            <a:ext cx="3501182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Data-rich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Interactive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Clinically contextual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Designed for HCPs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811179" y="9563100"/>
            <a:ext cx="41002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</a:t>
            </a:r>
            <a:endParaRPr lang="en-US" sz="18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61824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2135981"/>
            <a:ext cx="27842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FOUR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05000" y="2936081"/>
            <a:ext cx="2879608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spc="-720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04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1905000" y="5222081"/>
            <a:ext cx="7221325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0" spc="-15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their own words.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1905000" y="6795492"/>
            <a:ext cx="1524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7" name="Text 5"/>
          <p:cNvSpPr/>
          <p:nvPr/>
        </p:nvSpPr>
        <p:spPr>
          <a:xfrm>
            <a:off x="1905000" y="7290792"/>
            <a:ext cx="10791825" cy="993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850" spc="6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Six voices from the eleven HCPs who participated in moderated research sessions.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43000" y="9563100"/>
            <a:ext cx="26889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808053" y="9563100"/>
            <a:ext cx="41314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</a:t>
            </a:r>
            <a:endParaRPr lang="en-US" sz="18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336892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HCP VOICE · 01 OF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49464" y="533400"/>
            <a:ext cx="1271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51515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619250"/>
            <a:ext cx="775049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18000" spc="6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1143000" y="3295650"/>
            <a:ext cx="7750492" cy="2634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i="1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every hesitant patient is hesitant for the same reason. The game helped me think through how to identify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</a:t>
            </a:r>
            <a:pPr algn="l" indent="0" marL="0">
              <a:lnSpc>
                <a:spcPct val="142000"/>
              </a:lnSpc>
              <a:buNone/>
            </a:pPr>
            <a:r>
              <a:rPr lang="en-US" sz="2400" i="1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patient is resistant before jumping to the scripted response. And having actual statistics I could cite in the conversation — that's the difference between a talking point and a convincing argument.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6082903"/>
            <a:ext cx="571500" cy="1905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6273403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Internal medicine physician, recently in practice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6631484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Reported a +2 confidence gain after completing the game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20250" y="1619250"/>
            <a:ext cx="775049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18000" spc="6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8000" dirty="0"/>
          </a:p>
        </p:txBody>
      </p:sp>
      <p:sp>
        <p:nvSpPr>
          <p:cNvPr id="10" name="Text 8"/>
          <p:cNvSpPr/>
          <p:nvPr/>
        </p:nvSpPr>
        <p:spPr>
          <a:xfrm>
            <a:off x="9620250" y="3295650"/>
            <a:ext cx="7750492" cy="3067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i="1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actually wanted to write the numbers down. Not to use the game in the exam room — but I'd keep a card in my coat pocket. When a patient says they've heard the vaccine is dangerous, I can pull it out and say: here is the actual rate of adverse events in patients your age.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Specific numbers land differently than general reassurance.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20250" y="6515695"/>
            <a:ext cx="571500" cy="1905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0" y="6706195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internal medicine physician, private practice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20250" y="7064276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Rated game effectiveness 7 out of 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781562" y="9563100"/>
            <a:ext cx="4396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</a:t>
            </a:r>
            <a:endParaRPr lang="en-US" sz="18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0A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339835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HCP VOICE · 02 OF 03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5949464" y="533400"/>
            <a:ext cx="1271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7C3C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619250"/>
            <a:ext cx="775049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18000" spc="6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8000" dirty="0"/>
          </a:p>
        </p:txBody>
      </p:sp>
      <p:sp>
        <p:nvSpPr>
          <p:cNvPr id="6" name="Text 4"/>
          <p:cNvSpPr/>
          <p:nvPr/>
        </p:nvSpPr>
        <p:spPr>
          <a:xfrm>
            <a:off x="1143000" y="3295650"/>
            <a:ext cx="7750492" cy="3067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i="1" spc="6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scenarios aren't hypothetical. These are conversations I have every single week. The hesitancy types the game surfaces, the way the patient pushes back, the social media concern, the adverse event fear — that's real.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felt like a simulation of my actual practice, not a training module someone designed in a conference room.</a:t>
            </a:r>
            <a:endParaRPr lang="en-US" sz="2400" dirty="0"/>
          </a:p>
        </p:txBody>
      </p:sp>
      <p:sp>
        <p:nvSpPr>
          <p:cNvPr id="7" name="Shape 5"/>
          <p:cNvSpPr/>
          <p:nvPr/>
        </p:nvSpPr>
        <p:spPr>
          <a:xfrm>
            <a:off x="1143000" y="6515695"/>
            <a:ext cx="571500" cy="1905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8" name="Text 6"/>
          <p:cNvSpPr/>
          <p:nvPr/>
        </p:nvSpPr>
        <p:spPr>
          <a:xfrm>
            <a:off x="1143000" y="6706195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 assistant, urgent care + primary care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143000" y="7064276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years in practice · Likelihood to recommend 9–10 / 10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9620250" y="1619250"/>
            <a:ext cx="775049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18000" spc="6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8000" dirty="0"/>
          </a:p>
        </p:txBody>
      </p:sp>
      <p:sp>
        <p:nvSpPr>
          <p:cNvPr id="11" name="Text 9"/>
          <p:cNvSpPr/>
          <p:nvPr/>
        </p:nvSpPr>
        <p:spPr>
          <a:xfrm>
            <a:off x="9620250" y="3295650"/>
            <a:ext cx="7750492" cy="3067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i="1" spc="6" kern="0" dirty="0">
                <a:solidFill>
                  <a:srgbClr val="FFFFFF">
                    <a:alpha val="9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this tool does well is remind you that patients aren't just 'anti-vaccine.' They have specific fears — misinformation, side effects, distrust of institutions — and the game helps you identify which one you're actually dealing with.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 see this working for everyone on the care team who has these conversations, not just the physician.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9620250" y="6515695"/>
            <a:ext cx="571500" cy="1905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13" name="Text 11"/>
          <p:cNvSpPr/>
          <p:nvPr/>
        </p:nvSpPr>
        <p:spPr>
          <a:xfrm>
            <a:off x="9620250" y="6706195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Physician, 35+ years in practice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620250" y="7064276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Effectiveness 7/7 · Likelihood to recommend 10/10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818918" y="9563100"/>
            <a:ext cx="40228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</a:t>
            </a:r>
            <a:endParaRPr lang="en-US"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3405863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HCP VOICE · 03 OF 03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949464" y="533400"/>
            <a:ext cx="127173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51515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619250"/>
            <a:ext cx="775049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18000" spc="6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1143000" y="3295650"/>
            <a:ext cx="7750492" cy="30676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i="1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data modules changed the quality of the experience. I went from curious to genuinely engaged. I went in expecting the usual talking points. What I got was actual statistics I could remember and repeat — hospitalization rates, adverse event comparisons, vaccine uptake data.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That's what a hesitant patient needs to hear, and now I have it.</a:t>
            </a:r>
            <a:endParaRPr lang="en-US" sz="2400" dirty="0"/>
          </a:p>
        </p:txBody>
      </p:sp>
      <p:sp>
        <p:nvSpPr>
          <p:cNvPr id="6" name="Shape 4"/>
          <p:cNvSpPr/>
          <p:nvPr/>
        </p:nvSpPr>
        <p:spPr>
          <a:xfrm>
            <a:off x="1143000" y="6515695"/>
            <a:ext cx="571500" cy="1905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7" name="Text 5"/>
          <p:cNvSpPr/>
          <p:nvPr/>
        </p:nvSpPr>
        <p:spPr>
          <a:xfrm>
            <a:off x="1143000" y="6706195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medicine physician, mid-career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7064276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to recommend 7–8 / 10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620250" y="1619250"/>
            <a:ext cx="7750492" cy="14097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60000"/>
              </a:lnSpc>
              <a:buNone/>
            </a:pPr>
            <a:r>
              <a:rPr lang="en-US" sz="18000" spc="6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"</a:t>
            </a:r>
            <a:endParaRPr lang="en-US" sz="18000" dirty="0"/>
          </a:p>
        </p:txBody>
      </p:sp>
      <p:sp>
        <p:nvSpPr>
          <p:cNvPr id="10" name="Text 8"/>
          <p:cNvSpPr/>
          <p:nvPr/>
        </p:nvSpPr>
        <p:spPr>
          <a:xfrm>
            <a:off x="9620250" y="3295650"/>
            <a:ext cx="7750492" cy="2634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2000"/>
              </a:lnSpc>
              <a:buNone/>
            </a:pPr>
            <a:r>
              <a:rPr lang="en-US" sz="2400" i="1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I'd share this with colleagues. It reinforces the case for vaccination in a way that is evidence-backed, and the format makes the evidence stick better than reading another journal article. </a:t>
            </a:r>
            <a:pPr algn="l" indent="0" marL="0">
              <a:lnSpc>
                <a:spcPct val="142000"/>
              </a:lnSpc>
              <a:buNone/>
            </a:pPr>
            <a:r>
              <a:rPr lang="en-US" sz="2400" spc="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Learning something through an interactive experience is just different than reading it — I remembered more.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9620250" y="6082903"/>
            <a:ext cx="571500" cy="19050"/>
          </a:xfrm>
          <a:prstGeom prst="rect">
            <a:avLst/>
          </a:prstGeom>
          <a:solidFill>
            <a:srgbClr val="BC4700"/>
          </a:solidFill>
          <a:ln/>
        </p:spPr>
      </p:sp>
      <p:sp>
        <p:nvSpPr>
          <p:cNvPr id="12" name="Text 10"/>
          <p:cNvSpPr/>
          <p:nvPr/>
        </p:nvSpPr>
        <p:spPr>
          <a:xfrm>
            <a:off x="9620250" y="6273403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Family medicine physician, recently in practice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620250" y="6631484"/>
            <a:ext cx="7750492" cy="3580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Likelihood to recommend 9 / 10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6790343" y="9563100"/>
            <a:ext cx="4308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</a:t>
            </a:r>
            <a:endParaRPr lang="en-US" sz="1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061824"/>
          </a:solidFill>
          <a:ln/>
        </p:spPr>
      </p:sp>
      <p:sp>
        <p:nvSpPr>
          <p:cNvPr id="3" name="Text 1"/>
          <p:cNvSpPr/>
          <p:nvPr/>
        </p:nvSpPr>
        <p:spPr>
          <a:xfrm>
            <a:off x="1905000" y="2135981"/>
            <a:ext cx="264123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720" kern="0" dirty="0">
                <a:solidFill>
                  <a:srgbClr val="FFFFFF">
                    <a:alpha val="6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SECTION FIVE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905000" y="2936081"/>
            <a:ext cx="2653808" cy="1981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18000" spc="-720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05</a:t>
            </a:r>
            <a:endParaRPr lang="en-US" sz="18000" dirty="0"/>
          </a:p>
        </p:txBody>
      </p:sp>
      <p:sp>
        <p:nvSpPr>
          <p:cNvPr id="5" name="Text 3"/>
          <p:cNvSpPr/>
          <p:nvPr/>
        </p:nvSpPr>
        <p:spPr>
          <a:xfrm>
            <a:off x="1905000" y="5222081"/>
            <a:ext cx="6334525" cy="10781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5000"/>
              </a:lnSpc>
              <a:buNone/>
            </a:pPr>
            <a:r>
              <a:rPr lang="en-US" sz="7800" spc="-15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opportunity.</a:t>
            </a:r>
            <a:endParaRPr lang="en-US" sz="7800" dirty="0"/>
          </a:p>
        </p:txBody>
      </p:sp>
      <p:sp>
        <p:nvSpPr>
          <p:cNvPr id="6" name="Shape 4"/>
          <p:cNvSpPr/>
          <p:nvPr/>
        </p:nvSpPr>
        <p:spPr>
          <a:xfrm>
            <a:off x="1905000" y="6795492"/>
            <a:ext cx="1524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7" name="Text 5"/>
          <p:cNvSpPr/>
          <p:nvPr/>
        </p:nvSpPr>
        <p:spPr>
          <a:xfrm>
            <a:off x="1905000" y="7290792"/>
            <a:ext cx="10791825" cy="993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850" spc="6" kern="0" dirty="0">
                <a:solidFill>
                  <a:srgbClr val="FFFFFF">
                    <a:alpha val="78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a single product to a scalable HCP education channel — what the research enables you to build.</a:t>
            </a:r>
            <a:endParaRPr lang="en-US" sz="2850" dirty="0"/>
          </a:p>
        </p:txBody>
      </p:sp>
      <p:sp>
        <p:nvSpPr>
          <p:cNvPr id="8" name="Text 6"/>
          <p:cNvSpPr/>
          <p:nvPr/>
        </p:nvSpPr>
        <p:spPr>
          <a:xfrm>
            <a:off x="1143000" y="9563100"/>
            <a:ext cx="268891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RELEVATE HEALTH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6784538" y="9563100"/>
            <a:ext cx="43666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457579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· 01 OF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5473660" y="533400"/>
            <a:ext cx="174754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51515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PORTFOLIO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PRODUCT · TO CHANNEL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905000"/>
            <a:ext cx="14716125" cy="1612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850" spc="-70" kern="0" dirty="0">
                <a:solidFill>
                  <a:srgbClr val="0A16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format with proven HCP demand — and </a:t>
            </a:r>
            <a:pPr algn="l" indent="0" marL="0">
              <a:lnSpc>
                <a:spcPct val="106000"/>
              </a:lnSpc>
              <a:buNone/>
            </a:pPr>
            <a:r>
              <a:rPr lang="en-US" sz="5850" spc="-70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portfolio-wide potential.</a:t>
            </a:r>
            <a:endParaRPr lang="en-US" sz="5850" dirty="0"/>
          </a:p>
        </p:txBody>
      </p:sp>
      <p:sp>
        <p:nvSpPr>
          <p:cNvPr id="6" name="Text 4"/>
          <p:cNvSpPr/>
          <p:nvPr/>
        </p:nvSpPr>
        <p:spPr>
          <a:xfrm>
            <a:off x="1143000" y="5342037"/>
            <a:ext cx="510159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50" spc="-330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10</a:t>
            </a:r>
            <a:pPr algn="l" indent="0" marL="0">
              <a:lnSpc>
                <a:spcPct val="92000"/>
              </a:lnSpc>
              <a:buNone/>
            </a:pPr>
            <a:r>
              <a:rPr lang="en-US" sz="3600" spc="-330" kern="0" dirty="0">
                <a:solidFill>
                  <a:srgbClr val="515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/11</a:t>
            </a:r>
            <a:endParaRPr lang="en-US" sz="8250" dirty="0"/>
          </a:p>
        </p:txBody>
      </p:sp>
      <p:sp>
        <p:nvSpPr>
          <p:cNvPr id="7" name="Text 5"/>
          <p:cNvSpPr/>
          <p:nvPr/>
        </p:nvSpPr>
        <p:spPr>
          <a:xfrm>
            <a:off x="1143000" y="6534448"/>
            <a:ext cx="51015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Treatments</a:t>
            </a:r>
            <a:endParaRPr lang="en-US" sz="2250" dirty="0"/>
          </a:p>
        </p:txBody>
      </p:sp>
      <p:sp>
        <p:nvSpPr>
          <p:cNvPr id="8" name="Text 6"/>
          <p:cNvSpPr/>
          <p:nvPr/>
        </p:nvSpPr>
        <p:spPr>
          <a:xfrm>
            <a:off x="1143000" y="7163098"/>
            <a:ext cx="313944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near-universal request for game-based learning on therapeutic agents.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6667500" y="5342037"/>
            <a:ext cx="510159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50" spc="-330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8</a:t>
            </a:r>
            <a:pPr algn="l" indent="0" marL="0">
              <a:lnSpc>
                <a:spcPct val="92000"/>
              </a:lnSpc>
              <a:buNone/>
            </a:pPr>
            <a:r>
              <a:rPr lang="en-US" sz="3600" spc="-330" kern="0" dirty="0">
                <a:solidFill>
                  <a:srgbClr val="515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/11</a:t>
            </a:r>
            <a:endParaRPr lang="en-US" sz="8250" dirty="0"/>
          </a:p>
        </p:txBody>
      </p:sp>
      <p:sp>
        <p:nvSpPr>
          <p:cNvPr id="10" name="Text 8"/>
          <p:cNvSpPr/>
          <p:nvPr/>
        </p:nvSpPr>
        <p:spPr>
          <a:xfrm>
            <a:off x="6667500" y="6534448"/>
            <a:ext cx="51015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Disease states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6667500" y="7163098"/>
            <a:ext cx="313944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Pathophysiology, diagnosis, staging — the building blocks of clinical judgment.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2192000" y="5342037"/>
            <a:ext cx="5101590" cy="100191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8250" spc="-330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7</a:t>
            </a:r>
            <a:pPr algn="l" indent="0" marL="0">
              <a:lnSpc>
                <a:spcPct val="92000"/>
              </a:lnSpc>
              <a:buNone/>
            </a:pPr>
            <a:r>
              <a:rPr lang="en-US" sz="3600" spc="-330" kern="0" dirty="0">
                <a:solidFill>
                  <a:srgbClr val="515151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/11</a:t>
            </a:r>
            <a:endParaRPr lang="en-US" sz="8250" dirty="0"/>
          </a:p>
        </p:txBody>
      </p:sp>
      <p:sp>
        <p:nvSpPr>
          <p:cNvPr id="13" name="Text 11"/>
          <p:cNvSpPr/>
          <p:nvPr/>
        </p:nvSpPr>
        <p:spPr>
          <a:xfrm>
            <a:off x="12192000" y="6534448"/>
            <a:ext cx="510159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Pharmaceuticals</a:t>
            </a:r>
            <a:endParaRPr lang="en-US" sz="2250" dirty="0"/>
          </a:p>
        </p:txBody>
      </p:sp>
      <p:sp>
        <p:nvSpPr>
          <p:cNvPr id="14" name="Text 12"/>
          <p:cNvSpPr/>
          <p:nvPr/>
        </p:nvSpPr>
        <p:spPr>
          <a:xfrm>
            <a:off x="12192000" y="7163098"/>
            <a:ext cx="3139440" cy="99804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Mechanism of action, dosing, evidence — the standing brief of medical affairs.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143000" y="8694539"/>
            <a:ext cx="13735050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is interest in a format, not interest in a single game. For a pharmaceutical company with a portfolio and a standing need to educate HCPs, that signal represents an education channel — not a one-time campaign.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6786473" y="9563100"/>
            <a:ext cx="4347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</a:t>
            </a:r>
            <a:endParaRPr lang="en-US" sz="18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0A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460522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· 02 OF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4859000" y="533400"/>
            <a:ext cx="236220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7C3C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 &amp; ACCESS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333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REACHING HCPS WHERE THEY ARE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905000"/>
            <a:ext cx="15697200" cy="221873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400" spc="-65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Mobile-first, self-paced, segment-completable — designed for the </a:t>
            </a:r>
            <a:pPr algn="l" indent="0" marL="0">
              <a:lnSpc>
                <a:spcPct val="106000"/>
              </a:lnSpc>
              <a:buNone/>
            </a:pPr>
            <a:r>
              <a:rPr lang="en-US" sz="5400" spc="-65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fifteen-minute window </a:t>
            </a:r>
            <a:pPr algn="l" indent="0" marL="0">
              <a:lnSpc>
                <a:spcPct val="106000"/>
              </a:lnSpc>
              <a:buNone/>
            </a:pPr>
            <a:r>
              <a:rPr lang="en-US" sz="5400" spc="-65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webinars can't fill.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1143000" y="7598866"/>
            <a:ext cx="36790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143000" y="8094166"/>
            <a:ext cx="3679031" cy="409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400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Between patients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143000" y="8694539"/>
            <a:ext cx="367903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unpredictable 10–15 minute gap in a clinic day.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286375" y="7598866"/>
            <a:ext cx="36790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286375" y="8094166"/>
            <a:ext cx="3679031" cy="409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400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Lunch breaks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5286375" y="8694539"/>
            <a:ext cx="367903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Mobile-first design fits one-handed phone use.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429750" y="7598866"/>
            <a:ext cx="36790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9429750" y="8094166"/>
            <a:ext cx="3679031" cy="409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400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Admin half-days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429750" y="8694539"/>
            <a:ext cx="367903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Wednesday block that's already protected for learning.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3573125" y="7598866"/>
            <a:ext cx="367903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WINDOW 04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3573125" y="8094166"/>
            <a:ext cx="3679031" cy="4098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400" spc="-12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Evenings, post-clinical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13573125" y="8694539"/>
            <a:ext cx="3679031" cy="678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800" spc="6" kern="0" dirty="0">
                <a:solidFill>
                  <a:srgbClr val="FFFFFF">
                    <a:alpha val="6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Self-paced, no scheduled commitment, resumable.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16786175" y="9563100"/>
            <a:ext cx="435025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</a:t>
            </a:r>
            <a:endParaRPr lang="en-US" sz="18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4F2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533400"/>
            <a:ext cx="4612739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· 03 OF 04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14536192" y="533400"/>
            <a:ext cx="2687072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515151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DIFFERENTIATION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143000" y="1333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BC47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ENGAGEMENT IS THE NEW COMPLETION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905000"/>
            <a:ext cx="14716125" cy="161299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850" spc="-70" kern="0" dirty="0">
                <a:solidFill>
                  <a:srgbClr val="0A162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Enjoyment isn't a vanity metric — </a:t>
            </a:r>
            <a:pPr algn="l" indent="0" marL="0">
              <a:lnSpc>
                <a:spcPct val="106000"/>
              </a:lnSpc>
              <a:buNone/>
            </a:pPr>
            <a:r>
              <a:rPr lang="en-US" sz="5850" spc="-70" kern="0" dirty="0">
                <a:solidFill>
                  <a:srgbClr val="BC47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it's a proxy for retention.</a:t>
            </a:r>
            <a:endParaRPr lang="en-US" sz="5850" dirty="0"/>
          </a:p>
        </p:txBody>
      </p:sp>
      <p:sp>
        <p:nvSpPr>
          <p:cNvPr id="6" name="Shape 4"/>
          <p:cNvSpPr/>
          <p:nvPr/>
        </p:nvSpPr>
        <p:spPr>
          <a:xfrm>
            <a:off x="1143000" y="4241899"/>
            <a:ext cx="7708255" cy="5756523"/>
          </a:xfrm>
          <a:prstGeom prst="rect">
            <a:avLst/>
          </a:prstGeom>
          <a:solidFill>
            <a:srgbClr val="EAE7DE"/>
          </a:solidFill>
          <a:ln/>
        </p:spPr>
      </p:sp>
      <p:sp>
        <p:nvSpPr>
          <p:cNvPr id="7" name="Text 5"/>
          <p:cNvSpPr/>
          <p:nvPr/>
        </p:nvSpPr>
        <p:spPr>
          <a:xfrm>
            <a:off x="1600200" y="4699099"/>
            <a:ext cx="69976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515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TRADITIONAL CME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600200" y="5232499"/>
            <a:ext cx="6997671" cy="47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850" spc="-14" kern="0" dirty="0">
                <a:solidFill>
                  <a:srgbClr val="0A162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completion problem.</a:t>
            </a:r>
            <a:endParaRPr lang="en-US" sz="2850" dirty="0"/>
          </a:p>
        </p:txBody>
      </p:sp>
      <p:sp>
        <p:nvSpPr>
          <p:cNvPr id="9" name="Text 7"/>
          <p:cNvSpPr/>
          <p:nvPr/>
        </p:nvSpPr>
        <p:spPr>
          <a:xfrm>
            <a:off x="1400175" y="5978872"/>
            <a:ext cx="7070080" cy="1695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Webinars attended while charting.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PDF modules opened and closed.</a:t>
            </a:r>
            <a:endParaRPr lang="en-US" sz="225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Journal articles read at varying attention.</a:t>
            </a:r>
            <a:endParaRPr lang="en-US" sz="2250" dirty="0"/>
          </a:p>
        </p:txBody>
      </p:sp>
      <p:sp>
        <p:nvSpPr>
          <p:cNvPr id="10" name="Text 8"/>
          <p:cNvSpPr/>
          <p:nvPr/>
        </p:nvSpPr>
        <p:spPr>
          <a:xfrm>
            <a:off x="1600200" y="7941022"/>
            <a:ext cx="6997671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51515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disengaged HCP isn't retaining anything.</a:t>
            </a:r>
            <a:endParaRPr lang="en-US" sz="2250" dirty="0"/>
          </a:p>
        </p:txBody>
      </p:sp>
      <p:sp>
        <p:nvSpPr>
          <p:cNvPr id="11" name="Shape 9"/>
          <p:cNvSpPr/>
          <p:nvPr/>
        </p:nvSpPr>
        <p:spPr>
          <a:xfrm>
            <a:off x="9803755" y="4241899"/>
            <a:ext cx="7341245" cy="5756523"/>
          </a:xfrm>
          <a:prstGeom prst="rect">
            <a:avLst/>
          </a:prstGeom>
          <a:solidFill>
            <a:srgbClr val="081F2B"/>
          </a:solidFill>
          <a:ln/>
        </p:spPr>
      </p:sp>
      <p:sp>
        <p:nvSpPr>
          <p:cNvPr id="12" name="Text 10"/>
          <p:cNvSpPr/>
          <p:nvPr/>
        </p:nvSpPr>
        <p:spPr>
          <a:xfrm>
            <a:off x="10260955" y="4699099"/>
            <a:ext cx="661965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HEALTHY DISCUSSIONS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260955" y="5232499"/>
            <a:ext cx="6619650" cy="47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000"/>
              </a:lnSpc>
              <a:buNone/>
            </a:pPr>
            <a:r>
              <a:rPr lang="en-US" sz="2850" spc="-14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attention proxy.</a:t>
            </a:r>
            <a:endParaRPr lang="en-US" sz="2850" dirty="0"/>
          </a:p>
        </p:txBody>
      </p:sp>
      <p:sp>
        <p:nvSpPr>
          <p:cNvPr id="14" name="Text 12"/>
          <p:cNvSpPr/>
          <p:nvPr/>
        </p:nvSpPr>
        <p:spPr>
          <a:xfrm>
            <a:off x="10260955" y="5978872"/>
            <a:ext cx="6619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Enjoyment scores of </a:t>
            </a:r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8–10 / 10 </a:t>
            </a:r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the educational core.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0260955" y="7007572"/>
            <a:ext cx="6619650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Engaged HCPs retain content.</a:t>
            </a:r>
            <a:endParaRPr lang="en-US" sz="2250" dirty="0"/>
          </a:p>
        </p:txBody>
      </p:sp>
      <p:sp>
        <p:nvSpPr>
          <p:cNvPr id="16" name="Text 14"/>
          <p:cNvSpPr/>
          <p:nvPr/>
        </p:nvSpPr>
        <p:spPr>
          <a:xfrm>
            <a:off x="10260955" y="7636222"/>
            <a:ext cx="6619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Learning and enjoyment move in the same direction.</a:t>
            </a:r>
            <a:endParaRPr lang="en-US" sz="2250" dirty="0"/>
          </a:p>
        </p:txBody>
      </p:sp>
      <p:sp>
        <p:nvSpPr>
          <p:cNvPr id="17" name="Text 15"/>
          <p:cNvSpPr/>
          <p:nvPr/>
        </p:nvSpPr>
        <p:spPr>
          <a:xfrm>
            <a:off x="10260955" y="8741122"/>
            <a:ext cx="6619650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content is clinically grounded and the format respects HCPs' time, attention follows.</a:t>
            </a:r>
            <a:endParaRPr lang="en-US" sz="2250" dirty="0"/>
          </a:p>
        </p:txBody>
      </p:sp>
      <p:sp>
        <p:nvSpPr>
          <p:cNvPr id="18" name="Text 16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6779329" y="9563100"/>
            <a:ext cx="44187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081F2B">
                    <a:alpha val="5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</a:t>
            </a:r>
            <a:endParaRPr lang="en-US" sz="18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1B0A2E"/>
          </a:solidFill>
          <a:ln/>
        </p:spPr>
      </p:sp>
      <p:sp>
        <p:nvSpPr>
          <p:cNvPr id="3" name="Text 1"/>
          <p:cNvSpPr/>
          <p:nvPr/>
        </p:nvSpPr>
        <p:spPr>
          <a:xfrm>
            <a:off x="1143000" y="533400"/>
            <a:ext cx="461641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OPPORTUNITY · 04 OF 04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16630799" y="533400"/>
            <a:ext cx="590401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96" kern="0" dirty="0">
                <a:solidFill>
                  <a:srgbClr val="B7C3CC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143000" y="1333500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ROI ANCHORED IN BEHAVIOR CHANGE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43000" y="1905000"/>
            <a:ext cx="15697200" cy="2400449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6000"/>
              </a:lnSpc>
              <a:buNone/>
            </a:pPr>
            <a:r>
              <a:rPr lang="en-US" sz="5850" spc="-70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Confidence in a product conversation translates directly to </a:t>
            </a:r>
            <a:pPr algn="l" indent="0" marL="0">
              <a:lnSpc>
                <a:spcPct val="106000"/>
              </a:lnSpc>
              <a:buNone/>
            </a:pPr>
            <a:r>
              <a:rPr lang="en-US" sz="5850" spc="-70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recommendation behavior.</a:t>
            </a:r>
            <a:endParaRPr lang="en-US" sz="5850" dirty="0"/>
          </a:p>
        </p:txBody>
      </p:sp>
      <p:sp>
        <p:nvSpPr>
          <p:cNvPr id="7" name="Text 5"/>
          <p:cNvSpPr/>
          <p:nvPr/>
        </p:nvSpPr>
        <p:spPr>
          <a:xfrm>
            <a:off x="1143000" y="6924377"/>
            <a:ext cx="838200" cy="11696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9900" spc="-39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9900" dirty="0"/>
          </a:p>
        </p:txBody>
      </p:sp>
      <p:sp>
        <p:nvSpPr>
          <p:cNvPr id="8" name="Text 6"/>
          <p:cNvSpPr/>
          <p:nvPr/>
        </p:nvSpPr>
        <p:spPr>
          <a:xfrm>
            <a:off x="2438400" y="6924377"/>
            <a:ext cx="13735050" cy="9432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700" spc="6" kern="0" dirty="0">
                <a:solidFill>
                  <a:srgbClr val="FFFFFF">
                    <a:alpha val="9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confidence gains documented here are not abstract survey scores. They are self-reported shifts in a clinician's readiness to have a specific, high-stakes conversation.</a:t>
            </a:r>
            <a:endParaRPr lang="en-US" sz="2700" dirty="0"/>
          </a:p>
        </p:txBody>
      </p:sp>
      <p:sp>
        <p:nvSpPr>
          <p:cNvPr id="9" name="Text 7"/>
          <p:cNvSpPr/>
          <p:nvPr/>
        </p:nvSpPr>
        <p:spPr>
          <a:xfrm>
            <a:off x="2438400" y="8134350"/>
            <a:ext cx="42643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 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2438400" y="8534400"/>
            <a:ext cx="426430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Citing specific statistics in patient conversations.</a:t>
            </a:r>
            <a:endParaRPr lang="en-US" sz="2250" dirty="0"/>
          </a:p>
        </p:txBody>
      </p:sp>
      <p:sp>
        <p:nvSpPr>
          <p:cNvPr id="11" name="Text 9"/>
          <p:cNvSpPr/>
          <p:nvPr/>
        </p:nvSpPr>
        <p:spPr>
          <a:xfrm>
            <a:off x="7035701" y="8134350"/>
            <a:ext cx="4264457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 02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035701" y="8534400"/>
            <a:ext cx="4264457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Identifying hesitancy type before responding.</a:t>
            </a:r>
            <a:endParaRPr lang="en-US" sz="2250" dirty="0"/>
          </a:p>
        </p:txBody>
      </p:sp>
      <p:sp>
        <p:nvSpPr>
          <p:cNvPr id="13" name="Text 11"/>
          <p:cNvSpPr/>
          <p:nvPr/>
        </p:nvSpPr>
        <p:spPr>
          <a:xfrm>
            <a:off x="11633150" y="8134350"/>
            <a:ext cx="4264304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144" kern="0" dirty="0">
                <a:solidFill>
                  <a:srgbClr val="CDDE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BEHAVIOR 03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633150" y="8534400"/>
            <a:ext cx="4264304" cy="838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250" spc="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Framing adverse-event risk in precise, not general, terms.</a:t>
            </a:r>
            <a:endParaRPr lang="en-US" sz="2250" dirty="0"/>
          </a:p>
        </p:txBody>
      </p:sp>
      <p:sp>
        <p:nvSpPr>
          <p:cNvPr id="15" name="Text 13"/>
          <p:cNvSpPr/>
          <p:nvPr/>
        </p:nvSpPr>
        <p:spPr>
          <a:xfrm>
            <a:off x="1143000" y="9563100"/>
            <a:ext cx="6437078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HEALTHY DISCUSSIONS · SALES NARRATIVE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795254" y="9563100"/>
            <a:ext cx="425946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60" kern="0" dirty="0">
                <a:solidFill>
                  <a:srgbClr val="FFFFFF">
                    <a:alpha val="55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</a:t>
            </a:r>
            <a:endParaRPr lang="en-US" sz="18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43000"/>
            <a:ext cx="609600" cy="303312"/>
          </a:xfrm>
          <a:prstGeom prst="rect">
            <a:avLst/>
          </a:prstGeom>
        </p:spPr>
      </p:pic>
      <p:pic>
        <p:nvPicPr>
          <p:cNvPr id="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19300" y="1161306"/>
            <a:ext cx="1500932" cy="266700"/>
          </a:xfrm>
          <a:prstGeom prst="rect">
            <a:avLst/>
          </a:prstGeom>
        </p:spPr>
      </p:pic>
      <p:sp>
        <p:nvSpPr>
          <p:cNvPr id="5" name="Text 0"/>
          <p:cNvSpPr/>
          <p:nvPr/>
        </p:nvSpPr>
        <p:spPr>
          <a:xfrm>
            <a:off x="1143000" y="1633091"/>
            <a:ext cx="16482060" cy="304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576" kern="0" dirty="0">
                <a:solidFill>
                  <a:srgbClr val="CDDE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· CALL TO ACTION</a:t>
            </a:r>
            <a:endParaRPr lang="en-US" sz="1800" dirty="0"/>
          </a:p>
        </p:txBody>
      </p:sp>
      <p:sp>
        <p:nvSpPr>
          <p:cNvPr id="6" name="Text 1"/>
          <p:cNvSpPr/>
          <p:nvPr/>
        </p:nvSpPr>
        <p:spPr>
          <a:xfrm>
            <a:off x="1143000" y="2242691"/>
            <a:ext cx="15697200" cy="41588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800" spc="-117" kern="0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Let's build the education channel </a:t>
            </a:r>
            <a:pPr algn="l" indent="0" marL="0">
              <a:lnSpc>
                <a:spcPct val="104000"/>
              </a:lnSpc>
              <a:buNone/>
            </a:pPr>
            <a:r>
              <a:rPr lang="en-US" sz="7800" spc="-117" kern="0" dirty="0">
                <a:solidFill>
                  <a:srgbClr val="CDDE00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current investments are leaving on the table.</a:t>
            </a:r>
            <a:endParaRPr lang="en-US" sz="7800" dirty="0"/>
          </a:p>
        </p:txBody>
      </p:sp>
      <p:sp>
        <p:nvSpPr>
          <p:cNvPr id="7" name="Shape 2"/>
          <p:cNvSpPr/>
          <p:nvPr/>
        </p:nvSpPr>
        <p:spPr>
          <a:xfrm>
            <a:off x="1143000" y="6896844"/>
            <a:ext cx="762000" cy="38100"/>
          </a:xfrm>
          <a:prstGeom prst="rect">
            <a:avLst/>
          </a:prstGeom>
          <a:solidFill>
            <a:srgbClr val="CDDE00"/>
          </a:solidFill>
          <a:ln/>
        </p:spPr>
      </p:sp>
      <p:sp>
        <p:nvSpPr>
          <p:cNvPr id="8" name="Text 3"/>
          <p:cNvSpPr/>
          <p:nvPr/>
        </p:nvSpPr>
        <p:spPr>
          <a:xfrm>
            <a:off x="1143000" y="7315944"/>
            <a:ext cx="12753975" cy="99357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2850" spc="6" kern="0" dirty="0">
                <a:solidFill>
                  <a:srgbClr val="FFFFFF">
                    <a:alpha val="82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purpose-built, game-based learning program — for your products and your target HCP audience — delivering outcomes traditional formats have not.</a:t>
            </a:r>
            <a:endParaRPr lang="en-US" sz="2850" dirty="0"/>
          </a:p>
        </p:txBody>
      </p:sp>
      <p:sp>
        <p:nvSpPr>
          <p:cNvPr id="9" name="Text 4"/>
          <p:cNvSpPr/>
          <p:nvPr/>
        </p:nvSpPr>
        <p:spPr>
          <a:xfrm>
            <a:off x="1143000" y="8458200"/>
            <a:ext cx="160555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STEP</a:t>
            </a:r>
            <a:endParaRPr lang="en-US" sz="1800" dirty="0"/>
          </a:p>
        </p:txBody>
      </p:sp>
      <p:sp>
        <p:nvSpPr>
          <p:cNvPr id="10" name="Text 5"/>
          <p:cNvSpPr/>
          <p:nvPr/>
        </p:nvSpPr>
        <p:spPr>
          <a:xfrm>
            <a:off x="1143000" y="8801100"/>
            <a:ext cx="507307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HALF-DAY SESSION WITH YOUR TEAM</a:t>
            </a:r>
            <a:endParaRPr lang="en-US" sz="1800" dirty="0"/>
          </a:p>
        </p:txBody>
      </p:sp>
      <p:sp>
        <p:nvSpPr>
          <p:cNvPr id="11" name="Text 6"/>
          <p:cNvSpPr/>
          <p:nvPr/>
        </p:nvSpPr>
        <p:spPr>
          <a:xfrm>
            <a:off x="6830318" y="8458200"/>
            <a:ext cx="145940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 BRING</a:t>
            </a:r>
            <a:endParaRPr lang="en-US" sz="1800" dirty="0"/>
          </a:p>
        </p:txBody>
      </p:sp>
      <p:sp>
        <p:nvSpPr>
          <p:cNvPr id="12" name="Text 7"/>
          <p:cNvSpPr/>
          <p:nvPr/>
        </p:nvSpPr>
        <p:spPr>
          <a:xfrm>
            <a:off x="6830318" y="8801100"/>
            <a:ext cx="3983165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FULL RESEARCH RECORD</a:t>
            </a:r>
            <a:endParaRPr lang="en-US" sz="1800" dirty="0"/>
          </a:p>
        </p:txBody>
      </p:sp>
      <p:sp>
        <p:nvSpPr>
          <p:cNvPr id="13" name="Text 8"/>
          <p:cNvSpPr/>
          <p:nvPr/>
        </p:nvSpPr>
        <p:spPr>
          <a:xfrm>
            <a:off x="11459468" y="8458200"/>
            <a:ext cx="243780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800" spc="324" kern="0" dirty="0">
                <a:solidFill>
                  <a:srgbClr val="FFFFFF">
                    <a:alpha val="70000"/>
                  </a:srgb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LEAVE WITH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1459468" y="8801100"/>
            <a:ext cx="5856098" cy="571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216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SCOPED PROGRAM FOR YOUR PORTFOLIO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2026-05-21T15:45:41Z</dcterms:created>
  <dcterms:modified xsi:type="dcterms:W3CDTF">2026-05-21T15:45:41Z</dcterms:modified>
</cp:coreProperties>
</file>